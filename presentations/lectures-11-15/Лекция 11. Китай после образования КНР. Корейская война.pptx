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009a87b4-31e2-20ef-9199-fd50862f5c0c}">
          <p14:sldIdLst>
            <p14:sldId id="256"/>
            <p14:sldId id="257"/>
          </p14:sldIdLst>
        </p14:section>
        <p14:section name="Китай после 1949 года" id="{d8005966-cf18-c5d0-6229-dd3a21d08052}">
          <p14:sldIdLst>
            <p14:sldId id="258"/>
            <p14:sldId id="259"/>
            <p14:sldId id="260"/>
          </p14:sldIdLst>
        </p14:section>
        <p14:section name="Корейская война" id="{f51004e0-bf9e-8de4-aca2-86a7e4e39afd}">
          <p14:sldIdLst>
            <p14:sldId id="261"/>
            <p14:sldId id="262"/>
            <p14:sldId id="263"/>
          </p14:sldIdLst>
        </p14:section>
        <p14:section name="Значение событий" id="{58525d0f-eaad-7e8e-3ed3-cf0eb4da5d68}">
          <p14:sldIdLst>
            <p14:sldId id="264"/>
          </p14:sldIdLst>
        </p14:section>
        <p14:section name="Выводы" id="{d2acbedb-922e-91e0-bb89-73b5db03d6e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октября 1949 года в Пекине была провозглашена Китайская Народная Республика (КНР). Это событие стало результатом многолетней гражданской войны между Коммунистической партией Китая во главе с Мао Цзэдуном и партией Гоминьдан под руководством Чан Кайши. После поражения Гоминьдана его руководство эвакуировалось на остров Тайвань, где продолжило существование Китайской Республики. С этого времени на территории Китая фактически существовали два политических центра: КНР на материке и Китайская Республика на Тайване.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октября 1949 года в Пекине была провозглашена Китайская Народная Республика (КНР). Это событие стало результатом многолетней гражданской войны между Коммунистической партией Китая во главе с Мао Цзэдуном и партией Гоминьдан под руководством Чан Кайши. После поражения Гоминьдана его руководство эвакуировалось на остров Тайвань, где продолжило существование Китайской Республики. С этого времени на территории Китая фактически существовали два политических центра: КНР на материке и Китайская Республика на Тайване.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прихода к власти коммунисты приступили к масштабным преобразованиям страны. Китай находился в тяжёлом экономическом положении: промышленность была разрушена войной, сельское хозяйство отставало в развитии, значительная часть населения жила в бедности. Новое руководство стремилось создать социалистическое государство по советскому образцу. В 1950 году был принят закон об аграрной реформе, в соответствии с которым земли крупных землевладельцев конфисковывались и передавались крестьянам. Это позволило заручиться поддержкой сельского населения и укрепить позиции новой власти.
Важную роль в развитии КНР сыграло сотрудничество с СССР. В 1950 году между двумя странами был заключён договор о дружбе, союзе и взаимной помощи. Советский Союз предоставлял Китаю кредиты, техническую помощь и специалистов. При содействии СССР в Китае создавались новые промышленные предприятия, развивались транспорт и энергетика.
В 1953 году началась реализация первого пятилетнего плана развития экономики. Основное внимание уделялось тяжёлой промышленности, металлургии, машиностроению и энергетике. В результате Китай значительно увеличил объёмы промышленного производства и укрепил экономическую базу государства.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Однако в конце 1950-х годов руководство КНР предприняло ряд радикальных экспериментов. В 1958 году Мао Цзэдун провозгласил курс «Большого скачка», целью которого было быстрое превращение Китая в одну из ведущих индустриальных держав мира. Были созданы народные коммуны, объединявшие миллионы крестьян. Однако политика «Большого скачка» оказалась неудачной и привела к серьёзному экономическому кризису и голоду.
В 1966 году началась «Культурная революция», направленная на борьбу с предполагаемыми противниками социализма. Миллионы людей подверглись преследованиям, была нарушена работа образовательных учреждений и государственных органов. Эти события нанесли серьёзный ущерб развитию страны и завершились только после смерти Мао Цзэдуна в 1976 году.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Важным событием международной истории стала Корейская война. После окончания Второй мировой войны Корея была освобождена от японского господства. Однако страна оказалась разделена по 38-й параллели. Северная часть находилась под контролем СССР, а южная — под контролем США. В 1948 году на полуострове возникли два государства: Корейская Народно-Демократическая Республика (КНДР) на севере и Республика Корея на юге.
Обе стороны претендовали на объединение страны под своей властью. 25 июня 1950 года северокорейские войска пересекли 38-ю параллель и начали наступление на юг. Так началась Корейская война. Совет Безопасности ООН осудил действия КНДР и принял решение о создании международных сил под руководством США для поддержки Южной Кореи.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 стороны претендовали на объединение страны под своей властью. 25 июня 1950 года северокорейские войска пересекли 38-ю параллель и начали наступление на юг. Так началась Корейская война. Совет Безопасности ООН осудил действия КНДР и принял решение о создании международных сил под руководством США для поддержки Южной Кореи.
На первом этапе войны армия КНДР добилась значительных успехов и заняла большую часть территории Южной Кореи. Однако после высадки войск ООН в Инчхоне ситуация изменилась. Южнокорейские и американские силы перешли в контрнаступление и продвинулись к границе с Китаем. В ответ в войну вступили китайские «народные добровольцы», что привело к новому изменению соотношения сил.
С 1951 года боевые действия приобрели позиционный характер. Ни одна из сторон не могла добиться решающего преимущества. Переговоры о прекращении войны продолжались несколько лет. Наконец, 27 июля 1953 года было подписано соглашение о перемирии. Мирный договор заключён не был, поэтому формально Северная и Южная Корея до сих пор находятся в состоянии незавершённого конфликта.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1951 года боевые действия приобрели позиционный характер. Ни одна из сторон не могла добиться решающего преимущества. Переговоры о прекращении войны продолжались несколько лет. Наконец, 27 июля 1953 года было подписано соглашение о перемирии. Мирный договор заключён не был, поэтому формально Северная и Южная Корея до сих пор находятся в состоянии незавершённого конфликта.
Итогом войны стало сохранение разделения Корейского полуострова. Между двумя государствами была создана демилитаризованная зона. Северная Корея продолжила строительство социалистического государства под руководством династии Кимов, а Южная Корея постепенно превратилась в одну из наиболее развитых экономик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Корейская война стала одним из первых крупных вооружённых конфликтов холодной войны и показала глобальный характер противостояния между социалистическим и капиталистическим блоками. Одновременно она укрепила позиции КНР на международной арене и продемонстрировала её способность влиять на мировую политику. Вторая половина XX века прошла под значительным влиянием событий, связанных как с развитием Китая, так и с продолжающимся разделением Кореи.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Корейская война стала одним из первых крупных вооружённых конфликтов холодной войны и показала глобальный характер противостояния между социалистическим и капиталистическим блоками. Одновременно она укрепила позиции КНР на международной арене и продемонстрировала её способность влиять на мировую политику. Вторая половина XX века прошла под значительным влиянием событий, связанных как с развитием Китая, так и с продолжающимся разделением Кореи.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Лекция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ЛЕКЦИЯ 11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Китай после образования КНР. Корейская война и раздел Кореи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1949–1953: рождение КНР и один из первых «горячих» конфликтов холодной войны</a:t>
            </a:r>
            <a:endParaRPr lang="en-US" sz="1500" dirty="0"/>
          </a:p>
        </p:txBody>
      </p:sp>
      <p:sp>
        <p:nvSpPr>
          <p:cNvPr id="5" name="motif-ring"/>
          <p:cNvSpPr/>
          <p:nvPr/>
        </p:nvSpPr>
        <p:spPr>
          <a:xfrm>
            <a:off x="6446520" y="1325880"/>
            <a:ext cx="2194560" cy="219456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6675120" y="15544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FaFla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339" y="193669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План лекции</a:t>
            </a:r>
            <a:endParaRPr lang="en-US" sz="2400" dirty="0"/>
          </a:p>
        </p:txBody>
      </p:sp>
      <p:sp>
        <p:nvSpPr>
          <p:cNvPr id="3" name="num-1"/>
          <p:cNvSpPr/>
          <p:nvPr/>
        </p:nvSpPr>
        <p:spPr>
          <a:xfrm>
            <a:off x="457200" y="1225296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0254" y="1188720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Образование Китайской Народной Республики</a:t>
            </a:r>
            <a:endParaRPr lang="en-US" sz="1400" dirty="0"/>
          </a:p>
        </p:txBody>
      </p:sp>
      <p:sp>
        <p:nvSpPr>
          <p:cNvPr id="6" name="num-2"/>
          <p:cNvSpPr/>
          <p:nvPr/>
        </p:nvSpPr>
        <p:spPr>
          <a:xfrm>
            <a:off x="457200" y="1708622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08622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0254" y="1672046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Политическое и экономическое развитие Китая в первые годы КНР</a:t>
            </a:r>
            <a:endParaRPr lang="en-US" sz="1400" dirty="0"/>
          </a:p>
        </p:txBody>
      </p:sp>
      <p:sp>
        <p:nvSpPr>
          <p:cNvPr id="9" name="num-3"/>
          <p:cNvSpPr/>
          <p:nvPr/>
        </p:nvSpPr>
        <p:spPr>
          <a:xfrm>
            <a:off x="457200" y="2191947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91947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0254" y="2155371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Политика Мао Цзэдуна и основные реформы</a:t>
            </a:r>
            <a:endParaRPr lang="en-US" sz="1400" dirty="0"/>
          </a:p>
        </p:txBody>
      </p:sp>
      <p:sp>
        <p:nvSpPr>
          <p:cNvPr id="12" name="num-4"/>
          <p:cNvSpPr/>
          <p:nvPr/>
        </p:nvSpPr>
        <p:spPr>
          <a:xfrm>
            <a:off x="457200" y="2675273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675273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0254" y="2638697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Причины и начало Корейской войны</a:t>
            </a:r>
            <a:endParaRPr lang="en-US" sz="1400" dirty="0"/>
          </a:p>
        </p:txBody>
      </p:sp>
      <p:sp>
        <p:nvSpPr>
          <p:cNvPr id="15" name="num-5"/>
          <p:cNvSpPr/>
          <p:nvPr/>
        </p:nvSpPr>
        <p:spPr>
          <a:xfrm>
            <a:off x="457200" y="3158599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158599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0254" y="3122023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Ход Корейской войны (1950–1953 гг.)</a:t>
            </a:r>
            <a:endParaRPr lang="en-US" sz="1400" dirty="0"/>
          </a:p>
        </p:txBody>
      </p:sp>
      <p:sp>
        <p:nvSpPr>
          <p:cNvPr id="18" name="num-6"/>
          <p:cNvSpPr/>
          <p:nvPr/>
        </p:nvSpPr>
        <p:spPr>
          <a:xfrm>
            <a:off x="457200" y="3641925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641925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0254" y="3605349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Раздел Кореи и его последствия</a:t>
            </a:r>
            <a:endParaRPr lang="en-US" sz="1400" dirty="0"/>
          </a:p>
        </p:txBody>
      </p:sp>
      <p:sp>
        <p:nvSpPr>
          <p:cNvPr id="21" name="num-7"/>
          <p:cNvSpPr/>
          <p:nvPr/>
        </p:nvSpPr>
        <p:spPr>
          <a:xfrm>
            <a:off x="457200" y="4125250"/>
            <a:ext cx="410174" cy="41017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125250"/>
            <a:ext cx="410174" cy="41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0254" y="4088674"/>
            <a:ext cx="4710466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Значение событий для международных отношений периода холодной войны</a:t>
            </a:r>
            <a:endParaRPr lang="en-US" sz="1400" dirty="0"/>
          </a:p>
        </p:txBody>
      </p:sp>
      <p:sp>
        <p:nvSpPr>
          <p:cNvPr id="24" name="range-panel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25" name="icon-circle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con-FaHourglassHal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18" y="1558138"/>
            <a:ext cx="358445" cy="35844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3093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Хронологические рамки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1949–1976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635508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от провозглашения КНР до смерти Мао Цзэдуна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Образование КНР: два китайских государства</a:t>
            </a:r>
            <a:endParaRPr lang="en-US" sz="2400" dirty="0"/>
          </a:p>
        </p:txBody>
      </p:sp>
      <p:sp>
        <p:nvSpPr>
          <p:cNvPr id="3" name="col-head-1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Китайская Народная Республика</a:t>
            </a:r>
            <a:endParaRPr lang="en-US" sz="1600" dirty="0"/>
          </a:p>
        </p:txBody>
      </p:sp>
      <p:sp>
        <p:nvSpPr>
          <p:cNvPr id="5" name="col-body-1"/>
          <p:cNvSpPr/>
          <p:nvPr/>
        </p:nvSpPr>
        <p:spPr>
          <a:xfrm>
            <a:off x="45720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Провозглашена 1 октября 1949 г. в Пекине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Правящая партия — Коммунистическая партия Китая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Лидер — Мао Цзэдун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Территория — материковый Китай</a:t>
            </a:r>
            <a:endParaRPr lang="en-US" sz="1500" dirty="0"/>
          </a:p>
        </p:txBody>
      </p:sp>
      <p:sp>
        <p:nvSpPr>
          <p:cNvPr id="7" name="col-head-2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Китайская Республика</a:t>
            </a:r>
            <a:endParaRPr lang="en-US" sz="1600" dirty="0"/>
          </a:p>
        </p:txBody>
      </p:sp>
      <p:sp>
        <p:nvSpPr>
          <p:cNvPr id="9" name="col-body-2"/>
          <p:cNvSpPr/>
          <p:nvPr/>
        </p:nvSpPr>
        <p:spPr>
          <a:xfrm>
            <a:off x="470916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Руководство Гоминьдана эвакуировалось на Тайвань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Лидер — Чан Кайши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Продолжила существование на острове</a:t>
            </a:r>
            <a:endParaRPr lang="en-US" sz="1500" dirty="0"/>
          </a:p>
        </p:txBody>
      </p:sp>
      <p:sp>
        <p:nvSpPr>
          <p:cNvPr id="11" name="note-band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Итог гражданской войны: два политических центра — КНР на материке и Китайская Республика на Тайване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Первые годы КНР: курс на социализм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Исходные условия: разрушенная войной промышленность, отсталое сельское хозяйство, массовая бедность</a:t>
            </a:r>
            <a:endParaRPr lang="en-US" sz="1400" dirty="0"/>
          </a:p>
        </p:txBody>
      </p:sp>
      <p:sp>
        <p:nvSpPr>
          <p:cNvPr id="4" name="card-1"/>
          <p:cNvSpPr/>
          <p:nvPr/>
        </p:nvSpPr>
        <p:spPr>
          <a:xfrm>
            <a:off x="457200" y="150876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FaTracto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223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Аграрная реформа, 1950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Земли крупных землевладельцев конфискованы и переданы крестьянам — власть получила поддержку деревни</a:t>
            </a:r>
            <a:endParaRPr lang="en-US" sz="1500" dirty="0"/>
          </a:p>
        </p:txBody>
      </p:sp>
      <p:sp>
        <p:nvSpPr>
          <p:cNvPr id="9" name="card-2"/>
          <p:cNvSpPr/>
          <p:nvPr/>
        </p:nvSpPr>
        <p:spPr>
          <a:xfrm>
            <a:off x="3291840" y="150876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47472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Handshak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8223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Союз с СССР, 1950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Договор о дружбе, союзе и взаимной помощи: кредиты, техническая помощь, специалисты</a:t>
            </a:r>
            <a:endParaRPr lang="en-US" sz="1500" dirty="0"/>
          </a:p>
        </p:txBody>
      </p:sp>
      <p:sp>
        <p:nvSpPr>
          <p:cNvPr id="14" name="card-3"/>
          <p:cNvSpPr/>
          <p:nvPr/>
        </p:nvSpPr>
        <p:spPr>
          <a:xfrm>
            <a:off x="6126480" y="150876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630936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FaIndustr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8223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Первая пятилетка, 1953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Упор на тяжёлую промышленность, металлургию, машиностроение и энергетику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Политика Мао Цзэдуна</a:t>
            </a:r>
            <a:endParaRPr lang="en-US" sz="2400" dirty="0"/>
          </a:p>
        </p:txBody>
      </p:sp>
      <p:sp>
        <p:nvSpPr>
          <p:cNvPr id="3" name="timeline-axis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1949</a:t>
            </a:r>
            <a:endParaRPr lang="en-US" sz="2000" dirty="0"/>
          </a:p>
        </p:txBody>
      </p:sp>
      <p:sp>
        <p:nvSpPr>
          <p:cNvPr id="5" name="tl-dot-1"/>
          <p:cNvSpPr/>
          <p:nvPr/>
        </p:nvSpPr>
        <p:spPr>
          <a:xfrm>
            <a:off x="10241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6" name="tl-card-1"/>
          <p:cNvSpPr/>
          <p:nvPr/>
        </p:nvSpPr>
        <p:spPr>
          <a:xfrm>
            <a:off x="512064" y="2377440"/>
            <a:ext cx="1261872" cy="1920240"/>
          </a:xfrm>
          <a:prstGeom prst="roundRect">
            <a:avLst>
              <a:gd name="adj" fmla="val 579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" y="246888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Победа КПК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152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Провозглашена Китайская Народная Республика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1950</a:t>
            </a:r>
            <a:endParaRPr lang="en-US" sz="2000" dirty="0"/>
          </a:p>
        </p:txBody>
      </p:sp>
      <p:sp>
        <p:nvSpPr>
          <p:cNvPr id="10" name="tl-dot-2"/>
          <p:cNvSpPr/>
          <p:nvPr/>
        </p:nvSpPr>
        <p:spPr>
          <a:xfrm>
            <a:off x="23957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1" name="tl-card-2"/>
          <p:cNvSpPr/>
          <p:nvPr/>
        </p:nvSpPr>
        <p:spPr>
          <a:xfrm>
            <a:off x="1883664" y="2377440"/>
            <a:ext cx="1261872" cy="1920240"/>
          </a:xfrm>
          <a:prstGeom prst="roundRect">
            <a:avLst>
              <a:gd name="adj" fmla="val 579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938528" y="246888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Аграрная реформа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108960"/>
            <a:ext cx="1152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Земля передана крестьянам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1953</a:t>
            </a:r>
            <a:endParaRPr lang="en-US" sz="2000" dirty="0"/>
          </a:p>
        </p:txBody>
      </p:sp>
      <p:sp>
        <p:nvSpPr>
          <p:cNvPr id="15" name="tl-dot-3"/>
          <p:cNvSpPr/>
          <p:nvPr/>
        </p:nvSpPr>
        <p:spPr>
          <a:xfrm>
            <a:off x="37673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6" name="tl-card-3"/>
          <p:cNvSpPr/>
          <p:nvPr/>
        </p:nvSpPr>
        <p:spPr>
          <a:xfrm>
            <a:off x="3255264" y="2377440"/>
            <a:ext cx="1261872" cy="1920240"/>
          </a:xfrm>
          <a:prstGeom prst="roundRect">
            <a:avLst>
              <a:gd name="adj" fmla="val 579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10128" y="246888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Пятилетка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3108960"/>
            <a:ext cx="1152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Ставка на тяжёлую индустрию по образцу СССР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1958</a:t>
            </a:r>
            <a:endParaRPr lang="en-US" sz="2000" dirty="0"/>
          </a:p>
        </p:txBody>
      </p:sp>
      <p:sp>
        <p:nvSpPr>
          <p:cNvPr id="20" name="tl-dot-4"/>
          <p:cNvSpPr/>
          <p:nvPr/>
        </p:nvSpPr>
        <p:spPr>
          <a:xfrm>
            <a:off x="51389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1" name="tl-card-4"/>
          <p:cNvSpPr/>
          <p:nvPr/>
        </p:nvSpPr>
        <p:spPr>
          <a:xfrm>
            <a:off x="4626864" y="2377440"/>
            <a:ext cx="1261872" cy="1920240"/>
          </a:xfrm>
          <a:prstGeom prst="roundRect">
            <a:avLst>
              <a:gd name="adj" fmla="val 579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681728" y="246888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«Большой скачок»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81728" y="3108960"/>
            <a:ext cx="1152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Народные коммуны; кризис и голод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1966</a:t>
            </a:r>
            <a:endParaRPr lang="en-US" sz="2000" dirty="0"/>
          </a:p>
        </p:txBody>
      </p:sp>
      <p:sp>
        <p:nvSpPr>
          <p:cNvPr id="25" name="tl-dot-5"/>
          <p:cNvSpPr/>
          <p:nvPr/>
        </p:nvSpPr>
        <p:spPr>
          <a:xfrm>
            <a:off x="65105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6" name="tl-card-5"/>
          <p:cNvSpPr/>
          <p:nvPr/>
        </p:nvSpPr>
        <p:spPr>
          <a:xfrm>
            <a:off x="5998464" y="2377440"/>
            <a:ext cx="1261872" cy="1920240"/>
          </a:xfrm>
          <a:prstGeom prst="roundRect">
            <a:avLst>
              <a:gd name="adj" fmla="val 579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053328" y="246888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«Культурная революция»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053328" y="3108960"/>
            <a:ext cx="1152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Преследования миллионов людей, развал образования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12344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1976</a:t>
            </a:r>
            <a:endParaRPr lang="en-US" sz="2000" dirty="0"/>
          </a:p>
        </p:txBody>
      </p:sp>
      <p:sp>
        <p:nvSpPr>
          <p:cNvPr id="30" name="tl-dot-6"/>
          <p:cNvSpPr/>
          <p:nvPr/>
        </p:nvSpPr>
        <p:spPr>
          <a:xfrm>
            <a:off x="78821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31" name="tl-card-6"/>
          <p:cNvSpPr/>
          <p:nvPr/>
        </p:nvSpPr>
        <p:spPr>
          <a:xfrm>
            <a:off x="7370064" y="2377440"/>
            <a:ext cx="1261872" cy="1920240"/>
          </a:xfrm>
          <a:prstGeom prst="roundRect">
            <a:avLst>
              <a:gd name="adj" fmla="val 579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424928" y="246888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Смерть Мао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24928" y="3108960"/>
            <a:ext cx="1152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Конец эпохи радикальных экспериментов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Причины и начало Корейской войны</a:t>
            </a:r>
            <a:endParaRPr lang="en-US" sz="2400" dirty="0"/>
          </a:p>
        </p:txBody>
      </p:sp>
      <p:sp>
        <p:nvSpPr>
          <p:cNvPr id="3" name="step-1"/>
          <p:cNvSpPr/>
          <p:nvPr/>
        </p:nvSpPr>
        <p:spPr>
          <a:xfrm>
            <a:off x="457200" y="1325880"/>
            <a:ext cx="1382573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" y="1325880"/>
            <a:ext cx="12362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1945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Конец японского господства</a:t>
            </a:r>
            <a:endParaRPr lang="en-US" sz="1200" dirty="0"/>
          </a:p>
        </p:txBody>
      </p:sp>
      <p:sp>
        <p:nvSpPr>
          <p:cNvPr id="5" name="arrow-1"/>
          <p:cNvSpPr/>
          <p:nvPr/>
        </p:nvSpPr>
        <p:spPr>
          <a:xfrm>
            <a:off x="1894637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step-desc-1"/>
          <p:cNvSpPr/>
          <p:nvPr/>
        </p:nvSpPr>
        <p:spPr>
          <a:xfrm>
            <a:off x="457200" y="2697480"/>
            <a:ext cx="1382573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11996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Корея освобождена после Второй мировой войны</a:t>
            </a:r>
            <a:endParaRPr lang="en-US" sz="1250" dirty="0"/>
          </a:p>
        </p:txBody>
      </p:sp>
      <p:sp>
        <p:nvSpPr>
          <p:cNvPr id="8" name="step-2"/>
          <p:cNvSpPr/>
          <p:nvPr/>
        </p:nvSpPr>
        <p:spPr>
          <a:xfrm>
            <a:off x="2168957" y="1325880"/>
            <a:ext cx="1382573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42109" y="1325880"/>
            <a:ext cx="12362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38-я параллель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Раздел страны</a:t>
            </a:r>
            <a:endParaRPr lang="en-US" sz="1200" dirty="0"/>
          </a:p>
        </p:txBody>
      </p:sp>
      <p:sp>
        <p:nvSpPr>
          <p:cNvPr id="10" name="arrow-2"/>
          <p:cNvSpPr/>
          <p:nvPr/>
        </p:nvSpPr>
        <p:spPr>
          <a:xfrm>
            <a:off x="3606394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step-desc-2"/>
          <p:cNvSpPr/>
          <p:nvPr/>
        </p:nvSpPr>
        <p:spPr>
          <a:xfrm>
            <a:off x="2168957" y="2697480"/>
            <a:ext cx="1382573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260397" y="2788920"/>
            <a:ext cx="11996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Север — под контролем СССР, юг — под контролем США</a:t>
            </a:r>
            <a:endParaRPr lang="en-US" sz="1250" dirty="0"/>
          </a:p>
        </p:txBody>
      </p:sp>
      <p:sp>
        <p:nvSpPr>
          <p:cNvPr id="13" name="step-3"/>
          <p:cNvSpPr/>
          <p:nvPr/>
        </p:nvSpPr>
        <p:spPr>
          <a:xfrm>
            <a:off x="3880714" y="1325880"/>
            <a:ext cx="1382573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53866" y="1325880"/>
            <a:ext cx="12362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1948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Два государства</a:t>
            </a:r>
            <a:endParaRPr lang="en-US" sz="1200" dirty="0"/>
          </a:p>
        </p:txBody>
      </p:sp>
      <p:sp>
        <p:nvSpPr>
          <p:cNvPr id="15" name="arrow-3"/>
          <p:cNvSpPr/>
          <p:nvPr/>
        </p:nvSpPr>
        <p:spPr>
          <a:xfrm>
            <a:off x="5318150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step-desc-3"/>
          <p:cNvSpPr/>
          <p:nvPr/>
        </p:nvSpPr>
        <p:spPr>
          <a:xfrm>
            <a:off x="3880714" y="2697480"/>
            <a:ext cx="1382573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972154" y="2788920"/>
            <a:ext cx="11996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КНДР на севере и Республика Корея на юге</a:t>
            </a:r>
            <a:endParaRPr lang="en-US" sz="1250" dirty="0"/>
          </a:p>
        </p:txBody>
      </p:sp>
      <p:sp>
        <p:nvSpPr>
          <p:cNvPr id="18" name="step-4"/>
          <p:cNvSpPr/>
          <p:nvPr/>
        </p:nvSpPr>
        <p:spPr>
          <a:xfrm>
            <a:off x="5592470" y="1325880"/>
            <a:ext cx="1382573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5622" y="1325880"/>
            <a:ext cx="12362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Борьба за объединение</a:t>
            </a:r>
            <a:endParaRPr lang="en-US" sz="1250" dirty="0"/>
          </a:p>
        </p:txBody>
      </p:sp>
      <p:sp>
        <p:nvSpPr>
          <p:cNvPr id="20" name="arrow-4"/>
          <p:cNvSpPr/>
          <p:nvPr/>
        </p:nvSpPr>
        <p:spPr>
          <a:xfrm>
            <a:off x="7029907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step-desc-4"/>
          <p:cNvSpPr/>
          <p:nvPr/>
        </p:nvSpPr>
        <p:spPr>
          <a:xfrm>
            <a:off x="5592470" y="2697480"/>
            <a:ext cx="1382573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83910" y="2788920"/>
            <a:ext cx="11996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Каждая сторона претендует на всю Корею</a:t>
            </a:r>
            <a:endParaRPr lang="en-US" sz="1250" dirty="0"/>
          </a:p>
        </p:txBody>
      </p:sp>
      <p:sp>
        <p:nvSpPr>
          <p:cNvPr id="23" name="step-5"/>
          <p:cNvSpPr/>
          <p:nvPr/>
        </p:nvSpPr>
        <p:spPr>
          <a:xfrm>
            <a:off x="7304227" y="1325880"/>
            <a:ext cx="1382573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77379" y="1325880"/>
            <a:ext cx="12362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 июня 1950</a:t>
            </a:r>
            <a:endParaRPr lang="en-US" sz="120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Начало войны</a:t>
            </a:r>
            <a:endParaRPr lang="en-US" sz="1200" dirty="0"/>
          </a:p>
        </p:txBody>
      </p:sp>
      <p:sp>
        <p:nvSpPr>
          <p:cNvPr id="25" name="step-desc-5"/>
          <p:cNvSpPr/>
          <p:nvPr/>
        </p:nvSpPr>
        <p:spPr>
          <a:xfrm>
            <a:off x="7304227" y="2697480"/>
            <a:ext cx="1382573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95667" y="2788920"/>
            <a:ext cx="11996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Войска КНДР пересекают 38-ю параллель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Ход Корейской войны (1950–1953 гг.)</a:t>
            </a:r>
            <a:endParaRPr lang="en-US" sz="2400" dirty="0"/>
          </a:p>
        </p:txBody>
      </p:sp>
      <p:graphicFrame>
        <p:nvGraphicFramePr>
          <p:cNvPr id="8" name="even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Этап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Ключевые события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Наступление КНДР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Армия КНДР занимает большую часть Южной Кореи; СБ ООН создаёт международные силы во главе с США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Десант в Инчхоне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Войска ООН и Южной Кореи переходят в контрнаступление и выходят к границе с Китаем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Вступление Китая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В войну вступают китайские «народные добровольцы» — соотношение сил снова меняется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Позиционная война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С 1951 г. фронт стабилизируется, идут многолетние переговоры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llout"/>
          <p:cNvSpPr/>
          <p:nvPr/>
        </p:nvSpPr>
        <p:spPr>
          <a:xfrm>
            <a:off x="6492240" y="1188720"/>
            <a:ext cx="2194560" cy="338328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/>
        </p:spPr>
      </p:sp>
      <p:sp>
        <p:nvSpPr>
          <p:cNvPr id="5" name="icon-circle"/>
          <p:cNvSpPr/>
          <p:nvPr/>
        </p:nvSpPr>
        <p:spPr>
          <a:xfrm>
            <a:off x="7269480" y="14173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con-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298" y="1558138"/>
            <a:ext cx="358445" cy="35844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0" y="2194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 июля 1953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6629400" y="31546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соглашение о перемирии; мирный договор так и не подписан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Раздел Кореи и его последствия</a:t>
            </a:r>
            <a:endParaRPr lang="en-US" sz="2400" dirty="0"/>
          </a:p>
        </p:txBody>
      </p:sp>
      <p:sp>
        <p:nvSpPr>
          <p:cNvPr id="3" name="col-head-1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КНДР (север)</a:t>
            </a:r>
            <a:endParaRPr lang="en-US" sz="1600" dirty="0"/>
          </a:p>
        </p:txBody>
      </p:sp>
      <p:sp>
        <p:nvSpPr>
          <p:cNvPr id="5" name="col-body-1"/>
          <p:cNvSpPr/>
          <p:nvPr/>
        </p:nvSpPr>
        <p:spPr>
          <a:xfrm>
            <a:off x="45720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Строительство социалистического государства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Власть династии Кимов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Столица — Пхеньян</a:t>
            </a:r>
            <a:endParaRPr lang="en-US" sz="1500" dirty="0"/>
          </a:p>
        </p:txBody>
      </p:sp>
      <p:sp>
        <p:nvSpPr>
          <p:cNvPr id="7" name="col-head-2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Республика Корея (юг)</a:t>
            </a:r>
            <a:endParaRPr lang="en-US" sz="1600" dirty="0"/>
          </a:p>
        </p:txBody>
      </p:sp>
      <p:sp>
        <p:nvSpPr>
          <p:cNvPr id="9" name="col-body-2"/>
          <p:cNvSpPr/>
          <p:nvPr/>
        </p:nvSpPr>
        <p:spPr>
          <a:xfrm>
            <a:off x="470916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Рыночный путь развития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Одна из наиболее развитых экономик мира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Столица — Сеул</a:t>
            </a:r>
            <a:endParaRPr lang="en-US" sz="1500" dirty="0"/>
          </a:p>
        </p:txBody>
      </p:sp>
      <p:sp>
        <p:nvSpPr>
          <p:cNvPr id="11" name="note-band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Между государствами — демилитаризованная зона; формально конфликт не завершён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Значение для эпохи холодной войны</a:t>
            </a:r>
            <a:endParaRPr lang="en-US" sz="2400" dirty="0"/>
          </a:p>
        </p:txBody>
      </p:sp>
      <p:sp>
        <p:nvSpPr>
          <p:cNvPr id="3" name="card-1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Bom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023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Первая «горячая» война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Корейская война — одно из первых вооружённых столкновений холодной войны</a:t>
            </a:r>
            <a:endParaRPr lang="en-US" sz="1500" dirty="0"/>
          </a:p>
        </p:txBody>
      </p:sp>
      <p:sp>
        <p:nvSpPr>
          <p:cNvPr id="8" name="card-2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aGlobeAsi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5023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Глобальное противостояние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880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Показала мировой характер борьбы социалистического и капиталистического блоков</a:t>
            </a:r>
            <a:endParaRPr lang="en-US" sz="1500" dirty="0"/>
          </a:p>
        </p:txBody>
      </p:sp>
      <p:sp>
        <p:nvSpPr>
          <p:cNvPr id="13" name="card-3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Landmar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5023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Усиление КНР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880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Китай доказал способность влиять на мировую политику и укрепил свои позиции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3" name="takeaway-1"/>
          <p:cNvSpPr/>
          <p:nvPr/>
        </p:nvSpPr>
        <p:spPr>
          <a:xfrm>
            <a:off x="45720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Образование КНР в 1949 г. привело к появлению двух китайских государств — на материке и на Тайване</a:t>
            </a:r>
            <a:endParaRPr lang="en-US" sz="1500" dirty="0"/>
          </a:p>
        </p:txBody>
      </p:sp>
      <p:sp>
        <p:nvSpPr>
          <p:cNvPr id="7" name="takeaway-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um-2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«Большой скачок» и «Культурная революция» нанесли серьёзный ущерб развитию Китая</a:t>
            </a:r>
            <a:endParaRPr lang="en-US" sz="1500" dirty="0"/>
          </a:p>
        </p:txBody>
      </p:sp>
      <p:sp>
        <p:nvSpPr>
          <p:cNvPr id="11" name="takeaway-3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-3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Корейская война закрепила раздел полуострова и стала одним из первых конфликтов холодной войны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ергамент">
  <a:themeElements>
    <a:clrScheme name="Пергамент">
      <a:dk1>
        <a:srgbClr val="2B1A10"/>
      </a:dk1>
      <a:lt1>
        <a:srgbClr val="FFFFFF"/>
      </a:lt1>
      <a:dk2>
        <a:srgbClr val="4A2C1A"/>
      </a:dk2>
      <a:lt2>
        <a:srgbClr val="F4EAD5"/>
      </a:lt2>
      <a:accent1>
        <a:srgbClr val="8C2F1F"/>
      </a:accent1>
      <a:accent2>
        <a:srgbClr val="C08F3A"/>
      </a:accent2>
      <a:accent3>
        <a:srgbClr val="4E6B47"/>
      </a:accent3>
      <a:accent4>
        <a:srgbClr val="2F4A5A"/>
      </a:accent4>
      <a:accent5>
        <a:srgbClr val="9A5B34"/>
      </a:accent5>
      <a:accent6>
        <a:srgbClr val="7B6852"/>
      </a:accent6>
      <a:hlink>
        <a:srgbClr val="8C2F1F"/>
      </a:hlink>
      <a:folHlink>
        <a:srgbClr val="7B6852"/>
      </a:folHlink>
    </a:clrScheme>
    <a:fontScheme name="Пергамент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11. Китай после образования КНР. Корейская война и раздел Кореи</dc:title>
  <dc:subject>PptxGenJS Presentation</dc:subject>
  <dc:creator>Лекционный курс</dc:creator>
  <cp:lastModifiedBy>Лекционный курс</cp:lastModifiedBy>
  <cp:revision>1</cp:revision>
  <dcterms:created xsi:type="dcterms:W3CDTF">2026-10-19T14:28:20Z</dcterms:created>
  <dcterms:modified xsi:type="dcterms:W3CDTF">2026-10-19T14:28:20Z</dcterms:modified>
</cp:coreProperties>
</file>