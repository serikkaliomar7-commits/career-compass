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Введение" id="{cab98362-d2e9-bd64-b92f-a391036d93fd}">
          <p14:sldIdLst>
            <p14:sldId id="256"/>
            <p14:sldId id="257"/>
          </p14:sldIdLst>
        </p14:section>
        <p14:section name="Африка после деколонизации" id="{fb68f9e2-f0f7-96f4-e756-b6a3f5111b6e}">
          <p14:sldIdLst>
            <p14:sldId id="258"/>
          </p14:sldIdLst>
        </p14:section>
        <p14:section name="Государственное строительство" id="{74defd01-d07b-888f-910f-f76d9e81c92c}">
          <p14:sldIdLst>
            <p14:sldId id="259"/>
            <p14:sldId id="260"/>
          </p14:sldIdLst>
        </p14:section>
        <p14:section name="Политическая нестабильность" id="{2a317bf6-d511-6915-4adb-765ca8efface}">
          <p14:sldIdLst>
            <p14:sldId id="261"/>
            <p14:sldId id="262"/>
          </p14:sldIdLst>
        </p14:section>
        <p14:section name="Социально-экономические проблемы" id="{ff5d0cf5-06e2-050b-dbbc-48c2f4c7ea1b}">
          <p14:sldIdLst>
            <p14:sldId id="263"/>
            <p14:sldId id="264"/>
            <p14:sldId id="265"/>
          </p14:sldIdLst>
        </p14:section>
        <p14:section name="Выводы" id="{940ebae0-12a5-8f27-9b38-4c6f891b5f93}">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 распада колониальной системы во второй половине XX века на политической карте мира появилось большое количество независимых африканских государств. Особенно интенсивно процесс деколонизации проходил в 1950–1970-е годы. К началу 1980-х годов большинство стран Африки уже освободилось от колониальной зависимости. Однако получение независимости не означало автоматического решения политических, экономических и социальных проблем. Молодые государства столкнулись с серьёзными трудностями, связанными с колониальным наследием и необходимостью построения собственных систем управления.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 распада колониальной системы во второй половине XX века на политической карте мира появилось большое количество независимых африканских государств. Особенно интенсивно процесс деколонизации проходил в 1950–1970-е годы. К началу 1980-х годов большинство стран Африки уже освободилось от колониальной зависимости. Однако получение независимости не означало автоматического решения политических, экономических и социальных проблем. Молодые государства столкнулись с серьёзными трудностями, связанными с колониальным наследием и необходимостью построения собственных систем управления.
Несмотря на многочисленные трудности, в конце XX – начале XXI века в ряде африканских государств наметились позитивные изменения. Многие страны начали проводить экономические реформы, привлекать иностранные инвестиции, развивать промышленность и сферу услуг. Усилилось региональное сотрудничество в рамках Африканский союз, созданного в 2002 году на базе Организации африканского единства. Африканские государства стали активнее участвовать в международной политике и мировой экономике.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Одной из важнейших задач независимых государств стало формирование национальной государственности. Границы большинства африканских стран были проведены ещё в колониальную эпоху без учёта этнического, языкового и культурного состава населения. В результате в рамках одного государства часто оказывались десятки различных народов, что становилось причиной межэтнических противоречий и конфликтов. Во многих странах правительствам приходилось искать пути укрепления национального единства и создания общегосударственной идентичности.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Политическое развитие африканских государств происходило неодинаково. В некоторых странах были созданы относительно устойчивые демократические институты, проводились выборы и развивались многопартийные системы. Однако во многих государствах власть сосредоточивалась в руках одного лидера или одной партии. Распространение получили авторитарные режимы, объяснявшие необходимость сильной власти задачами модернизации и сохранения национального единства.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Серьёзной проблемой стали военные перевороты. Слабость государственных институтов, борьба за власть и экономические трудности способствовали вмешательству армии в политическую жизнь. В ряде стран власть неоднократно переходила от гражданских правительств к военным режимам и обратно. Особенно часто подобные процессы происходили в странах Западной и Центральной Африки. Политическая нестабильность препятствовала проведению реформ и замедляла развитие государств.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Одной из наиболее трагических страниц истории независимой Африки стали гражданские войны и вооружённые конфликты. Причинами конфликтов выступали этнические противоречия, борьба за природные ресурсы, политическое соперничество и вмешательство внешних сил. Среди наиболее известных конфликтов можно выделить гражданскую войну в Нигерии (1967–1970 гг.), известную как война в Биафре, а также геноцид в Руанде в 1994 году, унёсший жизни сотен тысяч людей.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Экономическое развитие африканских государств осложнялось сохранением колониальной структуры хозяйства. Большинство стран продолжало специализироваться на экспорте сырья и сельскохозяйственной продукции. Экономика многих государств зависела от мировых цен на нефть, какао, кофе, медь, золото и другие ресурсы. Недостаточное развитие промышленности и технологий затрудняло переход к более устойчивой модели экономического роста.
Серьёзной проблемой оставалась внешняя задолженность. Для финансирования развития многие государства брали кредиты у международных финансовых организаций и развитых стран. Со временем обслуживание долгов стало серьёзной нагрузкой для национальных бюджетов. Значительная часть государственных средств направлялась на выплату процентов по займам вместо инвестиций в образование, здравоохранение и инфраструктуру.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социальной сфере Африка сталкивалась с высоким уровнем бедности. Несмотря на наличие значительных природных ресурсов, миллионы людей продолжали жить за чертой бедности. Во многих странах сохранялись проблемы недостаточного доступа к образованию, медицинским услугам, чистой питьевой воде и современным средствам коммуникации.
Большое влияние на развитие континента оказывали демографические процессы. Население Африки росло быстрее, чем на других континентах. Быстрый рост численности населения создавал дополнительную нагрузку на экономику, систему образования, здравоохранение и рынок труда. Одновременно происходила активная урбанизация — увеличение числа жителей городов. Однако развитие городской инфраструктуры часто не успевало за темпами роста населения, что приводило к появлению бедных пригородных районов и трущоб.
Отдельной проблемой стали эпидемии и состояние здравоохранения. Во второй половине XX века серьёзную угрозу представляли малярия, туберкулёз, ВИЧ/СПИД и другие заболевания. Международные организации и правительства многих стран реализовывали программы по улучшению системы здравоохранения и борьбе с опасными болезнями.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Несмотря на многочисленные трудности, в конце XX – начале XXI века в ряде африканских государств наметились позитивные изменения. Многие страны начали проводить экономические реформы, привлекать иностранные инвестиции, развивать промышленность и сферу услуг. Усилилось региональное сотрудничество в рамках Африканский союз, созданного в 2002 году на базе Организации африканского единства. Африканские государства стали активнее участвовать в международной политике и мировой экономике.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Таким образом, политическое развитие независимых государств Африки сопровождалось сложным процессом формирования национальной государственности, преодоления колониального наследия и решения многочисленных социально-экономических проблем. Несмотря на сохраняющиеся трудности, многие страны континента продолжают движение по пути модернизации и укрепления своих государственных институтов.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5760720" cy="2194560"/>
          </a:xfrm>
          <a:prstGeom prst="rect">
            <a:avLst/>
          </a:prstGeom>
          <a:noFill/>
          <a:ln/>
        </p:spPr>
        <p:txBody>
          <a:bodyPr wrap="square" rtlCol="0"/>
          <a:lstStyle>
            <a:lvl1pPr algn="l" indent="0" marL="0">
              <a:buNone/>
              <a:defRPr lang="en-US" sz="2600" b="1" dirty="0">
                <a:solidFill>
                  <a:schemeClr val="bg2"/>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400" b="1" dirty="0">
                <a:solidFill>
                  <a:schemeClr val="tx2"/>
                </a:solidFill>
              </a:defRPr>
            </a:lvl1pPr>
          </a:lstStyle>
          <a:p>
            <a:pPr algn="l" indent="0" marL="0">
              <a:buNone/>
            </a:pPr>
            <a:endParaRPr lang="en-US" sz="2400" dirty="0"/>
          </a:p>
        </p:txBody>
      </p:sp>
      <p:sp>
        <p:nvSpPr>
          <p:cNvPr id="3" name="Text 0"/>
          <p:cNvSpPr/>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chemeClr val="accent6"/>
                </a:solidFill>
              </a:rPr>
              <a:t>Лекция 13</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2800" b="1" dirty="0">
                <a:solidFill>
                  <a:schemeClr val="bg2"/>
                </a:solidFill>
              </a:defRPr>
            </a:lvl1pPr>
          </a:lstStyle>
          <a:p>
            <a:pPr algn="l"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51560"/>
            <a:ext cx="4572000" cy="411480"/>
          </a:xfrm>
          <a:prstGeom prst="rect">
            <a:avLst/>
          </a:prstGeom>
          <a:noFill/>
          <a:ln/>
        </p:spPr>
        <p:txBody>
          <a:bodyPr wrap="square" lIns="0" tIns="0" rIns="0" bIns="0" rtlCol="0" anchor="ctr"/>
          <a:lstStyle/>
          <a:p>
            <a:pPr indent="0" marL="0">
              <a:buNone/>
            </a:pPr>
            <a:r>
              <a:rPr lang="en-US" sz="1600" b="1" spc="400" kern="0" dirty="0">
                <a:solidFill>
                  <a:schemeClr val="accent2"/>
                </a:solidFill>
              </a:rPr>
              <a:t>ЛЕКЦИЯ 13</a:t>
            </a:r>
            <a:endParaRPr lang="en-US" sz="1600" dirty="0"/>
          </a:p>
        </p:txBody>
      </p:sp>
      <p:sp>
        <p:nvSpPr>
          <p:cNvPr id="3" name="Text 0"/>
          <p:cNvSpPr/>
          <p:nvPr>
            <p:ph idx="100" type="title" hasCustomPrompt="1"/>
          </p:nvPr>
        </p:nvSpPr>
        <p:spPr>
          <a:xfrm>
            <a:off x="548640" y="1463040"/>
            <a:ext cx="5760720" cy="2194560"/>
          </a:xfrm>
          <a:prstGeom prst="rect">
            <a:avLst/>
          </a:prstGeom>
          <a:noFill/>
          <a:ln/>
        </p:spPr>
        <p:txBody>
          <a:bodyPr wrap="square" lIns="0" tIns="0" rIns="0" bIns="0" rtlCol="0" anchor="t"/>
          <a:lstStyle/>
          <a:p>
            <a:pPr algn="l" indent="0" marL="0">
              <a:buNone/>
            </a:pPr>
            <a:r>
              <a:rPr lang="en-US" sz="2600" b="1" dirty="0">
                <a:solidFill>
                  <a:schemeClr val="bg2"/>
                </a:solidFill>
              </a:rPr>
              <a:t>Политическое развитие независимых государств Африки. Социально-экономические проблемы континента</a:t>
            </a:r>
            <a:endParaRPr lang="en-US" sz="2600" dirty="0"/>
          </a:p>
        </p:txBody>
      </p:sp>
      <p:sp>
        <p:nvSpPr>
          <p:cNvPr id="4" name="Text 2"/>
          <p:cNvSpPr txBox="1"/>
          <p:nvPr/>
        </p:nvSpPr>
        <p:spPr>
          <a:xfrm>
            <a:off x="548640" y="3794760"/>
            <a:ext cx="5760720" cy="640080"/>
          </a:xfrm>
          <a:prstGeom prst="rect">
            <a:avLst/>
          </a:prstGeom>
          <a:noFill/>
          <a:ln/>
        </p:spPr>
        <p:txBody>
          <a:bodyPr wrap="square" lIns="0" tIns="0" rIns="0" bIns="0" rtlCol="0" anchor="t"/>
          <a:lstStyle/>
          <a:p>
            <a:pPr indent="0" marL="0">
              <a:buNone/>
            </a:pPr>
            <a:r>
              <a:rPr lang="en-US" sz="1500" i="1" dirty="0">
                <a:solidFill>
                  <a:schemeClr val="bg2"/>
                </a:solidFill>
              </a:rPr>
              <a:t>Трудный путь от независимости к национальной государственности</a:t>
            </a:r>
            <a:endParaRPr lang="en-US" sz="1500" dirty="0"/>
          </a:p>
        </p:txBody>
      </p:sp>
      <p:sp>
        <p:nvSpPr>
          <p:cNvPr id="5" name="motif-ring"/>
          <p:cNvSpPr/>
          <p:nvPr/>
        </p:nvSpPr>
        <p:spPr>
          <a:xfrm>
            <a:off x="6446520" y="1325880"/>
            <a:ext cx="2194560" cy="2194560"/>
          </a:xfrm>
          <a:prstGeom prst="ellipse">
            <a:avLst/>
          </a:prstGeom>
          <a:ln w="19050">
            <a:solidFill>
              <a:schemeClr val="accent2"/>
            </a:solidFill>
            <a:prstDash val="solid"/>
          </a:ln>
        </p:spPr>
      </p:sp>
      <p:sp>
        <p:nvSpPr>
          <p:cNvPr id="6" name="icon-circle"/>
          <p:cNvSpPr/>
          <p:nvPr/>
        </p:nvSpPr>
        <p:spPr>
          <a:xfrm>
            <a:off x="6675120" y="1554480"/>
            <a:ext cx="1737360" cy="1737360"/>
          </a:xfrm>
          <a:prstGeom prst="ellipse">
            <a:avLst/>
          </a:prstGeom>
          <a:solidFill>
            <a:schemeClr val="accent1"/>
          </a:solidFill>
          <a:ln/>
        </p:spPr>
      </p:sp>
      <p:pic>
        <p:nvPicPr>
          <p:cNvPr id="7" name="icon-FaGlobeAfrica" descr="preencoded.png">    </p:cNvPr>
          <p:cNvPicPr>
            <a:picLocks noChangeAspect="1"/>
          </p:cNvPicPr>
          <p:nvPr/>
        </p:nvPicPr>
        <p:blipFill>
          <a:blip r:embed="rId1"/>
          <a:stretch>
            <a:fillRect/>
          </a:stretch>
        </p:blipFill>
        <p:spPr>
          <a:xfrm>
            <a:off x="7057339" y="1936699"/>
            <a:ext cx="972922" cy="9729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2"/>
                </a:solidFill>
              </a:rPr>
              <a:t>План лекции</a:t>
            </a:r>
            <a:endParaRPr lang="en-US" sz="2400" dirty="0"/>
          </a:p>
        </p:txBody>
      </p:sp>
      <p:sp>
        <p:nvSpPr>
          <p:cNvPr id="3" name="num-1"/>
          <p:cNvSpPr/>
          <p:nvPr/>
        </p:nvSpPr>
        <p:spPr>
          <a:xfrm>
            <a:off x="457200" y="1316736"/>
            <a:ext cx="420624" cy="420624"/>
          </a:xfrm>
          <a:prstGeom prst="ellipse">
            <a:avLst/>
          </a:prstGeom>
          <a:solidFill>
            <a:schemeClr val="accent1"/>
          </a:solidFill>
          <a:ln/>
        </p:spPr>
      </p:sp>
      <p:sp>
        <p:nvSpPr>
          <p:cNvPr id="4" name="Text 2"/>
          <p:cNvSpPr txBox="1"/>
          <p:nvPr/>
        </p:nvSpPr>
        <p:spPr>
          <a:xfrm>
            <a:off x="457200" y="1316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1</a:t>
            </a:r>
            <a:endParaRPr lang="en-US" sz="1500" dirty="0"/>
          </a:p>
        </p:txBody>
      </p:sp>
      <p:sp>
        <p:nvSpPr>
          <p:cNvPr id="5" name="Text 3"/>
          <p:cNvSpPr txBox="1"/>
          <p:nvPr/>
        </p:nvSpPr>
        <p:spPr>
          <a:xfrm>
            <a:off x="1060704" y="1188720"/>
            <a:ext cx="4700016" cy="676656"/>
          </a:xfrm>
          <a:prstGeom prst="rect">
            <a:avLst/>
          </a:prstGeom>
          <a:noFill/>
          <a:ln/>
        </p:spPr>
        <p:txBody>
          <a:bodyPr wrap="square" lIns="0" tIns="0" rIns="0" bIns="0" rtlCol="0" anchor="ctr"/>
          <a:lstStyle/>
          <a:p>
            <a:pPr indent="0" marL="0">
              <a:buNone/>
            </a:pPr>
            <a:r>
              <a:rPr lang="en-US" sz="1600" dirty="0">
                <a:solidFill>
                  <a:schemeClr val="tx1"/>
                </a:solidFill>
              </a:rPr>
              <a:t>Африка после деколонизации</a:t>
            </a:r>
            <a:endParaRPr lang="en-US" sz="1600" dirty="0"/>
          </a:p>
        </p:txBody>
      </p:sp>
      <p:sp>
        <p:nvSpPr>
          <p:cNvPr id="6" name="num-2"/>
          <p:cNvSpPr/>
          <p:nvPr/>
        </p:nvSpPr>
        <p:spPr>
          <a:xfrm>
            <a:off x="457200" y="1993392"/>
            <a:ext cx="420624" cy="420624"/>
          </a:xfrm>
          <a:prstGeom prst="ellipse">
            <a:avLst/>
          </a:prstGeom>
          <a:solidFill>
            <a:schemeClr val="accent1"/>
          </a:solidFill>
          <a:ln/>
        </p:spPr>
      </p:sp>
      <p:sp>
        <p:nvSpPr>
          <p:cNvPr id="7" name="Text 5"/>
          <p:cNvSpPr txBox="1"/>
          <p:nvPr/>
        </p:nvSpPr>
        <p:spPr>
          <a:xfrm>
            <a:off x="457200" y="199339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2</a:t>
            </a:r>
            <a:endParaRPr lang="en-US" sz="1500" dirty="0"/>
          </a:p>
        </p:txBody>
      </p:sp>
      <p:sp>
        <p:nvSpPr>
          <p:cNvPr id="8" name="Text 6"/>
          <p:cNvSpPr txBox="1"/>
          <p:nvPr/>
        </p:nvSpPr>
        <p:spPr>
          <a:xfrm>
            <a:off x="1060704" y="1865376"/>
            <a:ext cx="4700016" cy="676656"/>
          </a:xfrm>
          <a:prstGeom prst="rect">
            <a:avLst/>
          </a:prstGeom>
          <a:noFill/>
          <a:ln/>
        </p:spPr>
        <p:txBody>
          <a:bodyPr wrap="square" lIns="0" tIns="0" rIns="0" bIns="0" rtlCol="0" anchor="ctr"/>
          <a:lstStyle/>
          <a:p>
            <a:pPr indent="0" marL="0">
              <a:buNone/>
            </a:pPr>
            <a:r>
              <a:rPr lang="en-US" sz="1600" dirty="0">
                <a:solidFill>
                  <a:schemeClr val="tx1"/>
                </a:solidFill>
              </a:rPr>
              <a:t>Особенности политического развития независимых государств Африки</a:t>
            </a:r>
            <a:endParaRPr lang="en-US" sz="1600" dirty="0"/>
          </a:p>
        </p:txBody>
      </p:sp>
      <p:sp>
        <p:nvSpPr>
          <p:cNvPr id="9" name="num-3"/>
          <p:cNvSpPr/>
          <p:nvPr/>
        </p:nvSpPr>
        <p:spPr>
          <a:xfrm>
            <a:off x="457200" y="2670048"/>
            <a:ext cx="420624" cy="420624"/>
          </a:xfrm>
          <a:prstGeom prst="ellipse">
            <a:avLst/>
          </a:prstGeom>
          <a:solidFill>
            <a:schemeClr val="accent1"/>
          </a:solidFill>
          <a:ln/>
        </p:spPr>
      </p:sp>
      <p:sp>
        <p:nvSpPr>
          <p:cNvPr id="10" name="Text 8"/>
          <p:cNvSpPr txBox="1"/>
          <p:nvPr/>
        </p:nvSpPr>
        <p:spPr>
          <a:xfrm>
            <a:off x="457200" y="2670048"/>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3</a:t>
            </a:r>
            <a:endParaRPr lang="en-US" sz="1500" dirty="0"/>
          </a:p>
        </p:txBody>
      </p:sp>
      <p:sp>
        <p:nvSpPr>
          <p:cNvPr id="11" name="Text 9"/>
          <p:cNvSpPr txBox="1"/>
          <p:nvPr/>
        </p:nvSpPr>
        <p:spPr>
          <a:xfrm>
            <a:off x="1060704" y="2542032"/>
            <a:ext cx="4700016" cy="676656"/>
          </a:xfrm>
          <a:prstGeom prst="rect">
            <a:avLst/>
          </a:prstGeom>
          <a:noFill/>
          <a:ln/>
        </p:spPr>
        <p:txBody>
          <a:bodyPr wrap="square" lIns="0" tIns="0" rIns="0" bIns="0" rtlCol="0" anchor="ctr"/>
          <a:lstStyle/>
          <a:p>
            <a:pPr indent="0" marL="0">
              <a:buNone/>
            </a:pPr>
            <a:r>
              <a:rPr lang="en-US" sz="1600" dirty="0">
                <a:solidFill>
                  <a:schemeClr val="tx1"/>
                </a:solidFill>
              </a:rPr>
              <a:t>Проблемы государственного строительства</a:t>
            </a:r>
            <a:endParaRPr lang="en-US" sz="1600" dirty="0"/>
          </a:p>
        </p:txBody>
      </p:sp>
      <p:sp>
        <p:nvSpPr>
          <p:cNvPr id="12" name="num-4"/>
          <p:cNvSpPr/>
          <p:nvPr/>
        </p:nvSpPr>
        <p:spPr>
          <a:xfrm>
            <a:off x="457200" y="3346704"/>
            <a:ext cx="420624" cy="420624"/>
          </a:xfrm>
          <a:prstGeom prst="ellipse">
            <a:avLst/>
          </a:prstGeom>
          <a:solidFill>
            <a:schemeClr val="accent1"/>
          </a:solidFill>
          <a:ln/>
        </p:spPr>
      </p:sp>
      <p:sp>
        <p:nvSpPr>
          <p:cNvPr id="13" name="Text 11"/>
          <p:cNvSpPr txBox="1"/>
          <p:nvPr/>
        </p:nvSpPr>
        <p:spPr>
          <a:xfrm>
            <a:off x="457200" y="3346704"/>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14" name="Text 12"/>
          <p:cNvSpPr txBox="1"/>
          <p:nvPr/>
        </p:nvSpPr>
        <p:spPr>
          <a:xfrm>
            <a:off x="1060704" y="3218688"/>
            <a:ext cx="4700016" cy="676656"/>
          </a:xfrm>
          <a:prstGeom prst="rect">
            <a:avLst/>
          </a:prstGeom>
          <a:noFill/>
          <a:ln/>
        </p:spPr>
        <p:txBody>
          <a:bodyPr wrap="square" lIns="0" tIns="0" rIns="0" bIns="0" rtlCol="0" anchor="ctr"/>
          <a:lstStyle/>
          <a:p>
            <a:pPr indent="0" marL="0">
              <a:buNone/>
            </a:pPr>
            <a:r>
              <a:rPr lang="en-US" sz="1600" dirty="0">
                <a:solidFill>
                  <a:schemeClr val="tx1"/>
                </a:solidFill>
              </a:rPr>
              <a:t>Военные перевороты и политическая нестабильность</a:t>
            </a:r>
            <a:endParaRPr lang="en-US" sz="1600" dirty="0"/>
          </a:p>
        </p:txBody>
      </p:sp>
      <p:sp>
        <p:nvSpPr>
          <p:cNvPr id="15" name="num-5"/>
          <p:cNvSpPr/>
          <p:nvPr/>
        </p:nvSpPr>
        <p:spPr>
          <a:xfrm>
            <a:off x="457200" y="4023360"/>
            <a:ext cx="420624" cy="420624"/>
          </a:xfrm>
          <a:prstGeom prst="ellipse">
            <a:avLst/>
          </a:prstGeom>
          <a:solidFill>
            <a:schemeClr val="accent1"/>
          </a:solidFill>
          <a:ln/>
        </p:spPr>
      </p:sp>
      <p:sp>
        <p:nvSpPr>
          <p:cNvPr id="16" name="Text 14"/>
          <p:cNvSpPr txBox="1"/>
          <p:nvPr/>
        </p:nvSpPr>
        <p:spPr>
          <a:xfrm>
            <a:off x="457200" y="402336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5</a:t>
            </a:r>
            <a:endParaRPr lang="en-US" sz="1500" dirty="0"/>
          </a:p>
        </p:txBody>
      </p:sp>
      <p:sp>
        <p:nvSpPr>
          <p:cNvPr id="17" name="Text 15"/>
          <p:cNvSpPr txBox="1"/>
          <p:nvPr/>
        </p:nvSpPr>
        <p:spPr>
          <a:xfrm>
            <a:off x="1060704" y="3895344"/>
            <a:ext cx="4700016" cy="676656"/>
          </a:xfrm>
          <a:prstGeom prst="rect">
            <a:avLst/>
          </a:prstGeom>
          <a:noFill/>
          <a:ln/>
        </p:spPr>
        <p:txBody>
          <a:bodyPr wrap="square" lIns="0" tIns="0" rIns="0" bIns="0" rtlCol="0" anchor="ctr"/>
          <a:lstStyle/>
          <a:p>
            <a:pPr indent="0" marL="0">
              <a:buNone/>
            </a:pPr>
            <a:r>
              <a:rPr lang="en-US" sz="1600" dirty="0">
                <a:solidFill>
                  <a:schemeClr val="tx1"/>
                </a:solidFill>
              </a:rPr>
              <a:t>Экономические проблемы африканских государств</a:t>
            </a:r>
            <a:endParaRPr lang="en-US" sz="1600" dirty="0"/>
          </a:p>
        </p:txBody>
      </p:sp>
      <p:sp>
        <p:nvSpPr>
          <p:cNvPr id="18" name="range-panel"/>
          <p:cNvSpPr/>
          <p:nvPr/>
        </p:nvSpPr>
        <p:spPr>
          <a:xfrm>
            <a:off x="6126480" y="1188720"/>
            <a:ext cx="2560320" cy="3291840"/>
          </a:xfrm>
          <a:prstGeom prst="roundRect">
            <a:avLst>
              <a:gd name="adj" fmla="val 3571"/>
            </a:avLst>
          </a:prstGeom>
          <a:solidFill>
            <a:schemeClr val="tx2"/>
          </a:solidFill>
          <a:ln/>
        </p:spPr>
      </p:sp>
      <p:sp>
        <p:nvSpPr>
          <p:cNvPr id="19" name="icon-circle"/>
          <p:cNvSpPr/>
          <p:nvPr/>
        </p:nvSpPr>
        <p:spPr>
          <a:xfrm>
            <a:off x="7086600" y="1417320"/>
            <a:ext cx="640080" cy="640080"/>
          </a:xfrm>
          <a:prstGeom prst="ellipse">
            <a:avLst/>
          </a:prstGeom>
          <a:solidFill>
            <a:schemeClr val="accent2"/>
          </a:solidFill>
          <a:ln/>
        </p:spPr>
      </p:sp>
      <p:pic>
        <p:nvPicPr>
          <p:cNvPr id="20" name="icon-FaHourglassHalf" descr="preencoded.png">    </p:cNvPr>
          <p:cNvPicPr>
            <a:picLocks noChangeAspect="1"/>
          </p:cNvPicPr>
          <p:nvPr/>
        </p:nvPicPr>
        <p:blipFill>
          <a:blip r:embed="rId1"/>
          <a:stretch>
            <a:fillRect/>
          </a:stretch>
        </p:blipFill>
        <p:spPr>
          <a:xfrm>
            <a:off x="7227418" y="1558138"/>
            <a:ext cx="358445" cy="358445"/>
          </a:xfrm>
          <a:prstGeom prst="rect">
            <a:avLst/>
          </a:prstGeom>
        </p:spPr>
      </p:pic>
      <p:sp>
        <p:nvSpPr>
          <p:cNvPr id="21" name="Text 18"/>
          <p:cNvSpPr txBox="1"/>
          <p:nvPr/>
        </p:nvSpPr>
        <p:spPr>
          <a:xfrm>
            <a:off x="6309360" y="2194560"/>
            <a:ext cx="2194560" cy="320040"/>
          </a:xfrm>
          <a:prstGeom prst="rect">
            <a:avLst/>
          </a:prstGeom>
          <a:noFill/>
          <a:ln/>
        </p:spPr>
        <p:txBody>
          <a:bodyPr wrap="square" lIns="0" tIns="0" rIns="0" bIns="0" rtlCol="0" anchor="ctr"/>
          <a:lstStyle/>
          <a:p>
            <a:pPr algn="ctr" indent="0" marL="0">
              <a:buNone/>
            </a:pPr>
            <a:r>
              <a:rPr lang="en-US" sz="1200" b="1" dirty="0">
                <a:solidFill>
                  <a:schemeClr val="accent2"/>
                </a:solidFill>
              </a:rPr>
              <a:t>Хронологические рамки</a:t>
            </a:r>
            <a:endParaRPr lang="en-US" sz="1200" dirty="0"/>
          </a:p>
        </p:txBody>
      </p:sp>
      <p:sp>
        <p:nvSpPr>
          <p:cNvPr id="22" name="Text 19"/>
          <p:cNvSpPr txBox="1"/>
          <p:nvPr/>
        </p:nvSpPr>
        <p:spPr>
          <a:xfrm>
            <a:off x="6263640" y="2560320"/>
            <a:ext cx="2286000" cy="822960"/>
          </a:xfrm>
          <a:prstGeom prst="rect">
            <a:avLst/>
          </a:prstGeom>
          <a:noFill/>
          <a:ln/>
        </p:spPr>
        <p:txBody>
          <a:bodyPr wrap="square" lIns="0" tIns="0" rIns="0" bIns="0" rtlCol="0" anchor="ctr"/>
          <a:lstStyle/>
          <a:p>
            <a:pPr algn="ctr" indent="0" marL="0">
              <a:buNone/>
            </a:pPr>
            <a:r>
              <a:rPr lang="en-US" sz="2200" b="1" dirty="0">
                <a:solidFill>
                  <a:schemeClr val="bg2"/>
                </a:solidFill>
                <a:latin typeface="+mj-lt" pitchFamily="34" charset="0"/>
                <a:ea typeface="+mj-lt" pitchFamily="34" charset="-122"/>
                <a:cs typeface="+mj-lt" pitchFamily="34" charset="-120"/>
              </a:rPr>
              <a:t>1950-е – 2000-е</a:t>
            </a:r>
            <a:endParaRPr lang="en-US" sz="2200" dirty="0"/>
          </a:p>
        </p:txBody>
      </p:sp>
      <p:sp>
        <p:nvSpPr>
          <p:cNvPr id="23" name="Text 20"/>
          <p:cNvSpPr txBox="1"/>
          <p:nvPr/>
        </p:nvSpPr>
        <p:spPr>
          <a:xfrm>
            <a:off x="6355080" y="3429000"/>
            <a:ext cx="2103120" cy="868680"/>
          </a:xfrm>
          <a:prstGeom prst="rect">
            <a:avLst/>
          </a:prstGeom>
          <a:noFill/>
          <a:ln/>
        </p:spPr>
        <p:txBody>
          <a:bodyPr wrap="square" lIns="0" tIns="0" rIns="0" bIns="0" rtlCol="0" anchor="t"/>
          <a:lstStyle/>
          <a:p>
            <a:pPr algn="ctr" indent="0" marL="0">
              <a:buNone/>
            </a:pPr>
            <a:r>
              <a:rPr lang="en-US" sz="1200" dirty="0">
                <a:solidFill>
                  <a:schemeClr val="bg2"/>
                </a:solidFill>
              </a:rPr>
              <a:t>от деколонизации до создания Африканского союза</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2"/>
                </a:solidFill>
              </a:rPr>
              <a:t>Африка после деколонизации</a:t>
            </a:r>
            <a:endParaRPr lang="en-US" sz="2400" dirty="0"/>
          </a:p>
        </p:txBody>
      </p:sp>
      <p:sp>
        <p:nvSpPr>
          <p:cNvPr id="3" name="stat-1"/>
          <p:cNvSpPr/>
          <p:nvPr/>
        </p:nvSpPr>
        <p:spPr>
          <a:xfrm>
            <a:off x="457200" y="1280160"/>
            <a:ext cx="2560320" cy="2286000"/>
          </a:xfrm>
          <a:prstGeom prst="roundRect">
            <a:avLst>
              <a:gd name="adj" fmla="val 3200"/>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4" name="Text 2"/>
          <p:cNvSpPr txBox="1"/>
          <p:nvPr/>
        </p:nvSpPr>
        <p:spPr>
          <a:xfrm>
            <a:off x="594360" y="1463040"/>
            <a:ext cx="2286000" cy="914400"/>
          </a:xfrm>
          <a:prstGeom prst="rect">
            <a:avLst/>
          </a:prstGeom>
          <a:noFill/>
          <a:ln/>
        </p:spPr>
        <p:txBody>
          <a:bodyPr wrap="square" lIns="0" tIns="0" rIns="0" bIns="0" rtlCol="0" anchor="ctr"/>
          <a:lstStyle/>
          <a:p>
            <a:pPr algn="ctr" indent="0" marL="0">
              <a:buNone/>
            </a:pPr>
            <a:r>
              <a:rPr lang="en-US" sz="2600" b="1" dirty="0">
                <a:solidFill>
                  <a:schemeClr val="accent1"/>
                </a:solidFill>
                <a:latin typeface="+mj-lt" pitchFamily="34" charset="0"/>
                <a:ea typeface="+mj-lt" pitchFamily="34" charset="-122"/>
                <a:cs typeface="+mj-lt" pitchFamily="34" charset="-120"/>
              </a:rPr>
              <a:t>1950–1970-е</a:t>
            </a:r>
            <a:endParaRPr lang="en-US" sz="2600" dirty="0"/>
          </a:p>
        </p:txBody>
      </p:sp>
      <p:sp>
        <p:nvSpPr>
          <p:cNvPr id="5" name="Text 3"/>
          <p:cNvSpPr txBox="1"/>
          <p:nvPr/>
        </p:nvSpPr>
        <p:spPr>
          <a:xfrm>
            <a:off x="640080" y="2468880"/>
            <a:ext cx="2194560" cy="1005840"/>
          </a:xfrm>
          <a:prstGeom prst="rect">
            <a:avLst/>
          </a:prstGeom>
          <a:noFill/>
          <a:ln/>
        </p:spPr>
        <p:txBody>
          <a:bodyPr wrap="square" lIns="0" tIns="0" rIns="0" bIns="0" rtlCol="0" anchor="t"/>
          <a:lstStyle/>
          <a:p>
            <a:pPr algn="ctr" indent="0" marL="0">
              <a:buNone/>
            </a:pPr>
            <a:r>
              <a:rPr lang="en-US" sz="1400" dirty="0">
                <a:solidFill>
                  <a:schemeClr val="tx1"/>
                </a:solidFill>
              </a:rPr>
              <a:t>период наиболее интенсивной деколонизации</a:t>
            </a:r>
            <a:endParaRPr lang="en-US" sz="1400" dirty="0"/>
          </a:p>
        </p:txBody>
      </p:sp>
      <p:sp>
        <p:nvSpPr>
          <p:cNvPr id="6" name="stat-2"/>
          <p:cNvSpPr/>
          <p:nvPr/>
        </p:nvSpPr>
        <p:spPr>
          <a:xfrm>
            <a:off x="3291840" y="1280160"/>
            <a:ext cx="2560320" cy="2286000"/>
          </a:xfrm>
          <a:prstGeom prst="roundRect">
            <a:avLst>
              <a:gd name="adj" fmla="val 3200"/>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7" name="Text 5"/>
          <p:cNvSpPr txBox="1"/>
          <p:nvPr/>
        </p:nvSpPr>
        <p:spPr>
          <a:xfrm>
            <a:off x="3429000" y="1463040"/>
            <a:ext cx="2286000" cy="914400"/>
          </a:xfrm>
          <a:prstGeom prst="rect">
            <a:avLst/>
          </a:prstGeom>
          <a:noFill/>
          <a:ln/>
        </p:spPr>
        <p:txBody>
          <a:bodyPr wrap="square" lIns="0" tIns="0" rIns="0" bIns="0" rtlCol="0" anchor="ctr"/>
          <a:lstStyle/>
          <a:p>
            <a:pPr algn="ctr" indent="0" marL="0">
              <a:buNone/>
            </a:pPr>
            <a:r>
              <a:rPr lang="en-US" sz="3600" b="1" dirty="0">
                <a:solidFill>
                  <a:schemeClr val="accent1"/>
                </a:solidFill>
                <a:latin typeface="+mj-lt" pitchFamily="34" charset="0"/>
                <a:ea typeface="+mj-lt" pitchFamily="34" charset="-122"/>
                <a:cs typeface="+mj-lt" pitchFamily="34" charset="-120"/>
              </a:rPr>
              <a:t>к 1980-м</a:t>
            </a:r>
            <a:endParaRPr lang="en-US" sz="3600" dirty="0"/>
          </a:p>
        </p:txBody>
      </p:sp>
      <p:sp>
        <p:nvSpPr>
          <p:cNvPr id="8" name="Text 6"/>
          <p:cNvSpPr txBox="1"/>
          <p:nvPr/>
        </p:nvSpPr>
        <p:spPr>
          <a:xfrm>
            <a:off x="3474720" y="2468880"/>
            <a:ext cx="2194560" cy="1005840"/>
          </a:xfrm>
          <a:prstGeom prst="rect">
            <a:avLst/>
          </a:prstGeom>
          <a:noFill/>
          <a:ln/>
        </p:spPr>
        <p:txBody>
          <a:bodyPr wrap="square" lIns="0" tIns="0" rIns="0" bIns="0" rtlCol="0" anchor="t"/>
          <a:lstStyle/>
          <a:p>
            <a:pPr algn="ctr" indent="0" marL="0">
              <a:buNone/>
            </a:pPr>
            <a:r>
              <a:rPr lang="en-US" sz="1400" dirty="0">
                <a:solidFill>
                  <a:schemeClr val="tx1"/>
                </a:solidFill>
              </a:rPr>
              <a:t>большинство стран Африки освободилось от колониальной зависимости</a:t>
            </a:r>
            <a:endParaRPr lang="en-US" sz="1400" dirty="0"/>
          </a:p>
        </p:txBody>
      </p:sp>
      <p:sp>
        <p:nvSpPr>
          <p:cNvPr id="9" name="stat-3"/>
          <p:cNvSpPr/>
          <p:nvPr/>
        </p:nvSpPr>
        <p:spPr>
          <a:xfrm>
            <a:off x="6126480" y="1280160"/>
            <a:ext cx="2560320" cy="2286000"/>
          </a:xfrm>
          <a:prstGeom prst="roundRect">
            <a:avLst>
              <a:gd name="adj" fmla="val 3200"/>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10" name="Text 8"/>
          <p:cNvSpPr txBox="1"/>
          <p:nvPr/>
        </p:nvSpPr>
        <p:spPr>
          <a:xfrm>
            <a:off x="6263640" y="1463040"/>
            <a:ext cx="2286000" cy="914400"/>
          </a:xfrm>
          <a:prstGeom prst="rect">
            <a:avLst/>
          </a:prstGeom>
          <a:noFill/>
          <a:ln/>
        </p:spPr>
        <p:txBody>
          <a:bodyPr wrap="square" lIns="0" tIns="0" rIns="0" bIns="0" rtlCol="0" anchor="ctr"/>
          <a:lstStyle/>
          <a:p>
            <a:pPr algn="ctr" indent="0" marL="0">
              <a:buNone/>
            </a:pPr>
            <a:r>
              <a:rPr lang="en-US" sz="3600" b="1" dirty="0">
                <a:solidFill>
                  <a:schemeClr val="accent1"/>
                </a:solidFill>
                <a:latin typeface="+mj-lt" pitchFamily="34" charset="0"/>
                <a:ea typeface="+mj-lt" pitchFamily="34" charset="-122"/>
                <a:cs typeface="+mj-lt" pitchFamily="34" charset="-120"/>
              </a:rPr>
              <a:t>2002</a:t>
            </a:r>
            <a:endParaRPr lang="en-US" sz="3600" dirty="0"/>
          </a:p>
        </p:txBody>
      </p:sp>
      <p:sp>
        <p:nvSpPr>
          <p:cNvPr id="11" name="Text 9"/>
          <p:cNvSpPr txBox="1"/>
          <p:nvPr/>
        </p:nvSpPr>
        <p:spPr>
          <a:xfrm>
            <a:off x="6309360" y="2468880"/>
            <a:ext cx="2194560" cy="1005840"/>
          </a:xfrm>
          <a:prstGeom prst="rect">
            <a:avLst/>
          </a:prstGeom>
          <a:noFill/>
          <a:ln/>
        </p:spPr>
        <p:txBody>
          <a:bodyPr wrap="square" lIns="0" tIns="0" rIns="0" bIns="0" rtlCol="0" anchor="t"/>
          <a:lstStyle/>
          <a:p>
            <a:pPr algn="ctr" indent="0" marL="0">
              <a:buNone/>
            </a:pPr>
            <a:r>
              <a:rPr lang="en-US" sz="1400" dirty="0">
                <a:solidFill>
                  <a:schemeClr val="tx1"/>
                </a:solidFill>
              </a:rPr>
              <a:t>создан Африканский союз на базе Организации африканского единства</a:t>
            </a:r>
            <a:endParaRPr lang="en-US" sz="1400" dirty="0"/>
          </a:p>
        </p:txBody>
      </p:sp>
      <p:sp>
        <p:nvSpPr>
          <p:cNvPr id="12" name="note-band"/>
          <p:cNvSpPr/>
          <p:nvPr/>
        </p:nvSpPr>
        <p:spPr>
          <a:xfrm>
            <a:off x="457200" y="3840480"/>
            <a:ext cx="8229600" cy="731520"/>
          </a:xfrm>
          <a:prstGeom prst="roundRect">
            <a:avLst>
              <a:gd name="adj" fmla="val 10000"/>
            </a:avLst>
          </a:prstGeom>
          <a:solidFill>
            <a:schemeClr val="tx2"/>
          </a:solidFill>
          <a:ln/>
        </p:spPr>
      </p:sp>
      <p:sp>
        <p:nvSpPr>
          <p:cNvPr id="13" name="Text 11"/>
          <p:cNvSpPr txBox="1"/>
          <p:nvPr/>
        </p:nvSpPr>
        <p:spPr>
          <a:xfrm>
            <a:off x="640080" y="3840480"/>
            <a:ext cx="7863840" cy="731520"/>
          </a:xfrm>
          <a:prstGeom prst="rect">
            <a:avLst/>
          </a:prstGeom>
          <a:noFill/>
          <a:ln/>
        </p:spPr>
        <p:txBody>
          <a:bodyPr wrap="square" lIns="0" tIns="0" rIns="0" bIns="0" rtlCol="0" anchor="ctr"/>
          <a:lstStyle/>
          <a:p>
            <a:pPr indent="0" marL="0">
              <a:buNone/>
            </a:pPr>
            <a:r>
              <a:rPr lang="en-US" sz="1400" dirty="0">
                <a:solidFill>
                  <a:schemeClr val="bg2"/>
                </a:solidFill>
              </a:rPr>
              <a:t>Независимость не означала автоматического решения политических, экономических и социальных проблем</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2"/>
                </a:solidFill>
              </a:rPr>
              <a:t>Проблемы государственного строительства</a:t>
            </a:r>
            <a:endParaRPr lang="en-US" sz="2400" dirty="0"/>
          </a:p>
        </p:txBody>
      </p:sp>
      <p:sp>
        <p:nvSpPr>
          <p:cNvPr id="3" name="card-1"/>
          <p:cNvSpPr/>
          <p:nvPr/>
        </p:nvSpPr>
        <p:spPr>
          <a:xfrm>
            <a:off x="457200" y="1188720"/>
            <a:ext cx="3977640" cy="1554480"/>
          </a:xfrm>
          <a:prstGeom prst="roundRect">
            <a:avLst>
              <a:gd name="adj" fmla="val 4706"/>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4" name="icon-circle"/>
          <p:cNvSpPr/>
          <p:nvPr/>
        </p:nvSpPr>
        <p:spPr>
          <a:xfrm>
            <a:off x="640080" y="1371600"/>
            <a:ext cx="457200" cy="457200"/>
          </a:xfrm>
          <a:prstGeom prst="ellipse">
            <a:avLst/>
          </a:prstGeom>
          <a:solidFill>
            <a:schemeClr val="accent1"/>
          </a:solidFill>
          <a:ln/>
        </p:spPr>
      </p:sp>
      <p:pic>
        <p:nvPicPr>
          <p:cNvPr id="5" name="icon-FaMapMarkedAlt"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6" name="Text 3"/>
          <p:cNvSpPr txBox="1"/>
          <p:nvPr/>
        </p:nvSpPr>
        <p:spPr>
          <a:xfrm>
            <a:off x="1280160" y="1371600"/>
            <a:ext cx="2971800" cy="457200"/>
          </a:xfrm>
          <a:prstGeom prst="rect">
            <a:avLst/>
          </a:prstGeom>
          <a:noFill/>
          <a:ln/>
        </p:spPr>
        <p:txBody>
          <a:bodyPr wrap="square" lIns="0" tIns="0" rIns="0" bIns="0" rtlCol="0" anchor="ctr"/>
          <a:lstStyle/>
          <a:p>
            <a:pPr indent="0" marL="0">
              <a:buNone/>
            </a:pPr>
            <a:r>
              <a:rPr lang="en-US" sz="1600" b="1" dirty="0">
                <a:solidFill>
                  <a:schemeClr val="tx2"/>
                </a:solidFill>
                <a:latin typeface="+mj-lt" pitchFamily="34" charset="0"/>
                <a:ea typeface="+mj-lt" pitchFamily="34" charset="-122"/>
                <a:cs typeface="+mj-lt" pitchFamily="34" charset="-120"/>
              </a:rPr>
              <a:t>Колониальные границы</a:t>
            </a:r>
            <a:endParaRPr lang="en-US" sz="1600" dirty="0"/>
          </a:p>
        </p:txBody>
      </p:sp>
      <p:sp>
        <p:nvSpPr>
          <p:cNvPr id="7" name="Text 4"/>
          <p:cNvSpPr txBox="1"/>
          <p:nvPr/>
        </p:nvSpPr>
        <p:spPr>
          <a:xfrm>
            <a:off x="640080" y="1965960"/>
            <a:ext cx="3611880" cy="685800"/>
          </a:xfrm>
          <a:prstGeom prst="rect">
            <a:avLst/>
          </a:prstGeom>
          <a:noFill/>
          <a:ln/>
        </p:spPr>
        <p:txBody>
          <a:bodyPr wrap="square" lIns="0" tIns="0" rIns="0" bIns="0" rtlCol="0" anchor="t"/>
          <a:lstStyle/>
          <a:p>
            <a:pPr indent="0" marL="0">
              <a:buNone/>
            </a:pPr>
            <a:r>
              <a:rPr lang="en-US" sz="1500" dirty="0">
                <a:solidFill>
                  <a:schemeClr val="tx1"/>
                </a:solidFill>
              </a:rPr>
              <a:t>Проведены без учёта этнического, языкового и культурного состава населения</a:t>
            </a:r>
            <a:endParaRPr lang="en-US" sz="1500" dirty="0"/>
          </a:p>
        </p:txBody>
      </p:sp>
      <p:sp>
        <p:nvSpPr>
          <p:cNvPr id="8" name="card-2"/>
          <p:cNvSpPr/>
          <p:nvPr/>
        </p:nvSpPr>
        <p:spPr>
          <a:xfrm>
            <a:off x="4709160" y="1188720"/>
            <a:ext cx="3977640" cy="1554480"/>
          </a:xfrm>
          <a:prstGeom prst="roundRect">
            <a:avLst>
              <a:gd name="adj" fmla="val 4706"/>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9" name="icon-circle"/>
          <p:cNvSpPr/>
          <p:nvPr/>
        </p:nvSpPr>
        <p:spPr>
          <a:xfrm>
            <a:off x="4892040" y="1371600"/>
            <a:ext cx="457200" cy="457200"/>
          </a:xfrm>
          <a:prstGeom prst="ellipse">
            <a:avLst/>
          </a:prstGeom>
          <a:solidFill>
            <a:schemeClr val="accent1"/>
          </a:solidFill>
          <a:ln/>
        </p:spPr>
      </p:sp>
      <p:pic>
        <p:nvPicPr>
          <p:cNvPr id="10" name="icon-FaUsers" descr="preencoded.png">    </p:cNvPr>
          <p:cNvPicPr>
            <a:picLocks noChangeAspect="1"/>
          </p:cNvPicPr>
          <p:nvPr/>
        </p:nvPicPr>
        <p:blipFill>
          <a:blip r:embed="rId2"/>
          <a:stretch>
            <a:fillRect/>
          </a:stretch>
        </p:blipFill>
        <p:spPr>
          <a:xfrm>
            <a:off x="4992624" y="1472184"/>
            <a:ext cx="256032" cy="256032"/>
          </a:xfrm>
          <a:prstGeom prst="rect">
            <a:avLst/>
          </a:prstGeom>
        </p:spPr>
      </p:pic>
      <p:sp>
        <p:nvSpPr>
          <p:cNvPr id="11" name="Text 7"/>
          <p:cNvSpPr txBox="1"/>
          <p:nvPr/>
        </p:nvSpPr>
        <p:spPr>
          <a:xfrm>
            <a:off x="5532120" y="1371600"/>
            <a:ext cx="2971800" cy="457200"/>
          </a:xfrm>
          <a:prstGeom prst="rect">
            <a:avLst/>
          </a:prstGeom>
          <a:noFill/>
          <a:ln/>
        </p:spPr>
        <p:txBody>
          <a:bodyPr wrap="square" lIns="0" tIns="0" rIns="0" bIns="0" rtlCol="0" anchor="ctr"/>
          <a:lstStyle/>
          <a:p>
            <a:pPr indent="0" marL="0">
              <a:buNone/>
            </a:pPr>
            <a:r>
              <a:rPr lang="en-US" sz="1600" b="1" dirty="0">
                <a:solidFill>
                  <a:schemeClr val="tx2"/>
                </a:solidFill>
                <a:latin typeface="+mj-lt" pitchFamily="34" charset="0"/>
                <a:ea typeface="+mj-lt" pitchFamily="34" charset="-122"/>
                <a:cs typeface="+mj-lt" pitchFamily="34" charset="-120"/>
              </a:rPr>
              <a:t>Многонациональность</a:t>
            </a:r>
            <a:endParaRPr lang="en-US" sz="1600" dirty="0"/>
          </a:p>
        </p:txBody>
      </p:sp>
      <p:sp>
        <p:nvSpPr>
          <p:cNvPr id="12" name="Text 8"/>
          <p:cNvSpPr txBox="1"/>
          <p:nvPr/>
        </p:nvSpPr>
        <p:spPr>
          <a:xfrm>
            <a:off x="4892040" y="1965960"/>
            <a:ext cx="3611880" cy="685800"/>
          </a:xfrm>
          <a:prstGeom prst="rect">
            <a:avLst/>
          </a:prstGeom>
          <a:noFill/>
          <a:ln/>
        </p:spPr>
        <p:txBody>
          <a:bodyPr wrap="square" lIns="0" tIns="0" rIns="0" bIns="0" rtlCol="0" anchor="t"/>
          <a:lstStyle/>
          <a:p>
            <a:pPr indent="0" marL="0">
              <a:buNone/>
            </a:pPr>
            <a:r>
              <a:rPr lang="en-US" sz="1500" dirty="0">
                <a:solidFill>
                  <a:schemeClr val="tx1"/>
                </a:solidFill>
              </a:rPr>
              <a:t>Десятки народов в одном государстве — почва для межэтнических конфликтов</a:t>
            </a:r>
            <a:endParaRPr lang="en-US" sz="1500" dirty="0"/>
          </a:p>
        </p:txBody>
      </p:sp>
      <p:sp>
        <p:nvSpPr>
          <p:cNvPr id="13" name="card-3"/>
          <p:cNvSpPr/>
          <p:nvPr/>
        </p:nvSpPr>
        <p:spPr>
          <a:xfrm>
            <a:off x="457200" y="3017520"/>
            <a:ext cx="3977640" cy="1554480"/>
          </a:xfrm>
          <a:prstGeom prst="roundRect">
            <a:avLst>
              <a:gd name="adj" fmla="val 4706"/>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14" name="icon-circle"/>
          <p:cNvSpPr/>
          <p:nvPr/>
        </p:nvSpPr>
        <p:spPr>
          <a:xfrm>
            <a:off x="640080" y="3200400"/>
            <a:ext cx="457200" cy="457200"/>
          </a:xfrm>
          <a:prstGeom prst="ellipse">
            <a:avLst/>
          </a:prstGeom>
          <a:solidFill>
            <a:schemeClr val="accent1"/>
          </a:solidFill>
          <a:ln/>
        </p:spPr>
      </p:sp>
      <p:pic>
        <p:nvPicPr>
          <p:cNvPr id="15" name="icon-FaFlag" descr="preencoded.png">    </p:cNvPr>
          <p:cNvPicPr>
            <a:picLocks noChangeAspect="1"/>
          </p:cNvPicPr>
          <p:nvPr/>
        </p:nvPicPr>
        <p:blipFill>
          <a:blip r:embed="rId3"/>
          <a:stretch>
            <a:fillRect/>
          </a:stretch>
        </p:blipFill>
        <p:spPr>
          <a:xfrm>
            <a:off x="740664" y="3300984"/>
            <a:ext cx="256032" cy="256032"/>
          </a:xfrm>
          <a:prstGeom prst="rect">
            <a:avLst/>
          </a:prstGeom>
        </p:spPr>
      </p:pic>
      <p:sp>
        <p:nvSpPr>
          <p:cNvPr id="16" name="Text 11"/>
          <p:cNvSpPr txBox="1"/>
          <p:nvPr/>
        </p:nvSpPr>
        <p:spPr>
          <a:xfrm>
            <a:off x="1280160" y="3200400"/>
            <a:ext cx="2971800" cy="457200"/>
          </a:xfrm>
          <a:prstGeom prst="rect">
            <a:avLst/>
          </a:prstGeom>
          <a:noFill/>
          <a:ln/>
        </p:spPr>
        <p:txBody>
          <a:bodyPr wrap="square" lIns="0" tIns="0" rIns="0" bIns="0" rtlCol="0" anchor="ctr"/>
          <a:lstStyle/>
          <a:p>
            <a:pPr indent="0" marL="0">
              <a:buNone/>
            </a:pPr>
            <a:r>
              <a:rPr lang="en-US" sz="1600" b="1" dirty="0">
                <a:solidFill>
                  <a:schemeClr val="tx2"/>
                </a:solidFill>
                <a:latin typeface="+mj-lt" pitchFamily="34" charset="0"/>
                <a:ea typeface="+mj-lt" pitchFamily="34" charset="-122"/>
                <a:cs typeface="+mj-lt" pitchFamily="34" charset="-120"/>
              </a:rPr>
              <a:t>Национальное единство</a:t>
            </a:r>
            <a:endParaRPr lang="en-US" sz="1600" dirty="0"/>
          </a:p>
        </p:txBody>
      </p:sp>
      <p:sp>
        <p:nvSpPr>
          <p:cNvPr id="17" name="Text 12"/>
          <p:cNvSpPr txBox="1"/>
          <p:nvPr/>
        </p:nvSpPr>
        <p:spPr>
          <a:xfrm>
            <a:off x="640080" y="3794760"/>
            <a:ext cx="3611880" cy="685800"/>
          </a:xfrm>
          <a:prstGeom prst="rect">
            <a:avLst/>
          </a:prstGeom>
          <a:noFill/>
          <a:ln/>
        </p:spPr>
        <p:txBody>
          <a:bodyPr wrap="square" lIns="0" tIns="0" rIns="0" bIns="0" rtlCol="0" anchor="t"/>
          <a:lstStyle/>
          <a:p>
            <a:pPr indent="0" marL="0">
              <a:buNone/>
            </a:pPr>
            <a:r>
              <a:rPr lang="en-US" sz="1500" dirty="0">
                <a:solidFill>
                  <a:schemeClr val="tx1"/>
                </a:solidFill>
              </a:rPr>
              <a:t>Поиск путей создания общегосударственной идентичности</a:t>
            </a:r>
            <a:endParaRPr lang="en-US" sz="1500" dirty="0"/>
          </a:p>
        </p:txBody>
      </p:sp>
      <p:sp>
        <p:nvSpPr>
          <p:cNvPr id="18" name="card-4"/>
          <p:cNvSpPr/>
          <p:nvPr/>
        </p:nvSpPr>
        <p:spPr>
          <a:xfrm>
            <a:off x="4709160" y="3017520"/>
            <a:ext cx="3977640" cy="1554480"/>
          </a:xfrm>
          <a:prstGeom prst="roundRect">
            <a:avLst>
              <a:gd name="adj" fmla="val 4706"/>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19" name="icon-circle"/>
          <p:cNvSpPr/>
          <p:nvPr/>
        </p:nvSpPr>
        <p:spPr>
          <a:xfrm>
            <a:off x="4892040" y="3200400"/>
            <a:ext cx="457200" cy="457200"/>
          </a:xfrm>
          <a:prstGeom prst="ellipse">
            <a:avLst/>
          </a:prstGeom>
          <a:solidFill>
            <a:schemeClr val="accent1"/>
          </a:solidFill>
          <a:ln/>
        </p:spPr>
      </p:sp>
      <p:pic>
        <p:nvPicPr>
          <p:cNvPr id="20" name="icon-FaLandmark" descr="preencoded.png">    </p:cNvPr>
          <p:cNvPicPr>
            <a:picLocks noChangeAspect="1"/>
          </p:cNvPicPr>
          <p:nvPr/>
        </p:nvPicPr>
        <p:blipFill>
          <a:blip r:embed="rId4"/>
          <a:stretch>
            <a:fillRect/>
          </a:stretch>
        </p:blipFill>
        <p:spPr>
          <a:xfrm>
            <a:off x="4992624" y="3300984"/>
            <a:ext cx="256032" cy="256032"/>
          </a:xfrm>
          <a:prstGeom prst="rect">
            <a:avLst/>
          </a:prstGeom>
        </p:spPr>
      </p:pic>
      <p:sp>
        <p:nvSpPr>
          <p:cNvPr id="21" name="Text 15"/>
          <p:cNvSpPr txBox="1"/>
          <p:nvPr/>
        </p:nvSpPr>
        <p:spPr>
          <a:xfrm>
            <a:off x="5532120" y="3200400"/>
            <a:ext cx="2971800" cy="457200"/>
          </a:xfrm>
          <a:prstGeom prst="rect">
            <a:avLst/>
          </a:prstGeom>
          <a:noFill/>
          <a:ln/>
        </p:spPr>
        <p:txBody>
          <a:bodyPr wrap="square" lIns="0" tIns="0" rIns="0" bIns="0" rtlCol="0" anchor="ctr"/>
          <a:lstStyle/>
          <a:p>
            <a:pPr indent="0" marL="0">
              <a:buNone/>
            </a:pPr>
            <a:r>
              <a:rPr lang="en-US" sz="1600" b="1" dirty="0">
                <a:solidFill>
                  <a:schemeClr val="tx2"/>
                </a:solidFill>
                <a:latin typeface="+mj-lt" pitchFamily="34" charset="0"/>
                <a:ea typeface="+mj-lt" pitchFamily="34" charset="-122"/>
                <a:cs typeface="+mj-lt" pitchFamily="34" charset="-120"/>
              </a:rPr>
              <a:t>Слабые институты</a:t>
            </a:r>
            <a:endParaRPr lang="en-US" sz="1600" dirty="0"/>
          </a:p>
        </p:txBody>
      </p:sp>
      <p:sp>
        <p:nvSpPr>
          <p:cNvPr id="22" name="Text 16"/>
          <p:cNvSpPr txBox="1"/>
          <p:nvPr/>
        </p:nvSpPr>
        <p:spPr>
          <a:xfrm>
            <a:off x="4892040" y="3794760"/>
            <a:ext cx="3611880" cy="685800"/>
          </a:xfrm>
          <a:prstGeom prst="rect">
            <a:avLst/>
          </a:prstGeom>
          <a:noFill/>
          <a:ln/>
        </p:spPr>
        <p:txBody>
          <a:bodyPr wrap="square" lIns="0" tIns="0" rIns="0" bIns="0" rtlCol="0" anchor="t"/>
          <a:lstStyle/>
          <a:p>
            <a:pPr indent="0" marL="0">
              <a:buNone/>
            </a:pPr>
            <a:r>
              <a:rPr lang="en-US" sz="1500" dirty="0">
                <a:solidFill>
                  <a:schemeClr val="tx1"/>
                </a:solidFill>
              </a:rPr>
              <a:t>Неустойчивость власти и борьба за неё мешали проводить реформы</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2"/>
                </a:solidFill>
              </a:rPr>
              <a:t>Особенности политического развития</a:t>
            </a:r>
            <a:endParaRPr lang="en-US" sz="2400" dirty="0"/>
          </a:p>
        </p:txBody>
      </p:sp>
      <p:sp>
        <p:nvSpPr>
          <p:cNvPr id="3" name="col-head-1"/>
          <p:cNvSpPr/>
          <p:nvPr/>
        </p:nvSpPr>
        <p:spPr>
          <a:xfrm>
            <a:off x="457200" y="1188720"/>
            <a:ext cx="3977640" cy="548640"/>
          </a:xfrm>
          <a:prstGeom prst="roundRect">
            <a:avLst>
              <a:gd name="adj" fmla="val 13333"/>
            </a:avLst>
          </a:prstGeom>
          <a:solidFill>
            <a:schemeClr val="accent1"/>
          </a:solidFill>
          <a:ln/>
        </p:spPr>
      </p:sp>
      <p:sp>
        <p:nvSpPr>
          <p:cNvPr id="4" name="Text 2"/>
          <p:cNvSpPr txBox="1"/>
          <p:nvPr/>
        </p:nvSpPr>
        <p:spPr>
          <a:xfrm>
            <a:off x="594360" y="1188720"/>
            <a:ext cx="3703320" cy="548640"/>
          </a:xfrm>
          <a:prstGeom prst="rect">
            <a:avLst/>
          </a:prstGeom>
          <a:noFill/>
          <a:ln/>
        </p:spPr>
        <p:txBody>
          <a:bodyPr wrap="square" lIns="0" tIns="0" rIns="0" bIns="0" rtlCol="0" anchor="ctr"/>
          <a:lstStyle/>
          <a:p>
            <a:pPr indent="0" marL="0">
              <a:buNone/>
            </a:pPr>
            <a:r>
              <a:rPr lang="en-US" sz="1600" b="1" dirty="0">
                <a:solidFill>
                  <a:schemeClr val="bg1"/>
                </a:solidFill>
                <a:latin typeface="+mj-lt" pitchFamily="34" charset="0"/>
                <a:ea typeface="+mj-lt" pitchFamily="34" charset="-122"/>
                <a:cs typeface="+mj-lt" pitchFamily="34" charset="-120"/>
              </a:rPr>
              <a:t>Демократический путь</a:t>
            </a:r>
            <a:endParaRPr lang="en-US" sz="1600" dirty="0"/>
          </a:p>
        </p:txBody>
      </p:sp>
      <p:sp>
        <p:nvSpPr>
          <p:cNvPr id="5" name="col-body-1"/>
          <p:cNvSpPr/>
          <p:nvPr/>
        </p:nvSpPr>
        <p:spPr>
          <a:xfrm>
            <a:off x="457200" y="1828800"/>
            <a:ext cx="3977640" cy="2743200"/>
          </a:xfrm>
          <a:prstGeom prst="roundRect">
            <a:avLst>
              <a:gd name="adj" fmla="val 2667"/>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6" name="Text 4"/>
          <p:cNvSpPr txBox="1"/>
          <p:nvPr/>
        </p:nvSpPr>
        <p:spPr>
          <a:xfrm>
            <a:off x="640080" y="1965960"/>
            <a:ext cx="3611880" cy="246888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chemeClr val="tx1"/>
                </a:solidFill>
              </a:rPr>
              <a:t>Регулярные выборы</a:t>
            </a:r>
            <a:endParaRPr lang="en-US" sz="1500" dirty="0"/>
          </a:p>
          <a:p>
            <a:pPr marL="190500" indent="-190500">
              <a:spcAft>
                <a:spcPts val="600"/>
              </a:spcAft>
              <a:buSzPct val="100000"/>
              <a:buChar char="•"/>
            </a:pPr>
            <a:r>
              <a:rPr lang="en-US" sz="1500" dirty="0">
                <a:solidFill>
                  <a:schemeClr val="tx1"/>
                </a:solidFill>
              </a:rPr>
              <a:t>Многопартийные системы</a:t>
            </a:r>
            <a:endParaRPr lang="en-US" sz="1500" dirty="0"/>
          </a:p>
          <a:p>
            <a:pPr marL="190500" indent="-190500">
              <a:spcAft>
                <a:spcPts val="600"/>
              </a:spcAft>
              <a:buSzPct val="100000"/>
              <a:buChar char="•"/>
            </a:pPr>
            <a:r>
              <a:rPr lang="en-US" sz="1500" dirty="0">
                <a:solidFill>
                  <a:schemeClr val="tx1"/>
                </a:solidFill>
              </a:rPr>
              <a:t>Относительно устойчивые демократические институты</a:t>
            </a:r>
            <a:endParaRPr lang="en-US" sz="1500" dirty="0"/>
          </a:p>
        </p:txBody>
      </p:sp>
      <p:sp>
        <p:nvSpPr>
          <p:cNvPr id="7" name="col-head-2"/>
          <p:cNvSpPr/>
          <p:nvPr/>
        </p:nvSpPr>
        <p:spPr>
          <a:xfrm>
            <a:off x="4709160" y="1188720"/>
            <a:ext cx="3977640" cy="548640"/>
          </a:xfrm>
          <a:prstGeom prst="roundRect">
            <a:avLst>
              <a:gd name="adj" fmla="val 13333"/>
            </a:avLst>
          </a:prstGeom>
          <a:solidFill>
            <a:schemeClr val="accent4"/>
          </a:solidFill>
          <a:ln/>
        </p:spPr>
      </p:sp>
      <p:sp>
        <p:nvSpPr>
          <p:cNvPr id="8" name="Text 6"/>
          <p:cNvSpPr txBox="1"/>
          <p:nvPr/>
        </p:nvSpPr>
        <p:spPr>
          <a:xfrm>
            <a:off x="4846320" y="1188720"/>
            <a:ext cx="3703320" cy="548640"/>
          </a:xfrm>
          <a:prstGeom prst="rect">
            <a:avLst/>
          </a:prstGeom>
          <a:noFill/>
          <a:ln/>
        </p:spPr>
        <p:txBody>
          <a:bodyPr wrap="square" lIns="0" tIns="0" rIns="0" bIns="0" rtlCol="0" anchor="ctr"/>
          <a:lstStyle/>
          <a:p>
            <a:pPr indent="0" marL="0">
              <a:buNone/>
            </a:pPr>
            <a:r>
              <a:rPr lang="en-US" sz="1600" b="1" dirty="0">
                <a:solidFill>
                  <a:schemeClr val="bg1"/>
                </a:solidFill>
                <a:latin typeface="+mj-lt" pitchFamily="34" charset="0"/>
                <a:ea typeface="+mj-lt" pitchFamily="34" charset="-122"/>
                <a:cs typeface="+mj-lt" pitchFamily="34" charset="-120"/>
              </a:rPr>
              <a:t>Авторитарный путь</a:t>
            </a:r>
            <a:endParaRPr lang="en-US" sz="1600" dirty="0"/>
          </a:p>
        </p:txBody>
      </p:sp>
      <p:sp>
        <p:nvSpPr>
          <p:cNvPr id="9" name="col-body-2"/>
          <p:cNvSpPr/>
          <p:nvPr/>
        </p:nvSpPr>
        <p:spPr>
          <a:xfrm>
            <a:off x="4709160" y="1828800"/>
            <a:ext cx="3977640" cy="2743200"/>
          </a:xfrm>
          <a:prstGeom prst="roundRect">
            <a:avLst>
              <a:gd name="adj" fmla="val 2667"/>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10" name="Text 8"/>
          <p:cNvSpPr txBox="1"/>
          <p:nvPr/>
        </p:nvSpPr>
        <p:spPr>
          <a:xfrm>
            <a:off x="4892040" y="1965960"/>
            <a:ext cx="3611880" cy="246888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chemeClr val="tx1"/>
                </a:solidFill>
              </a:rPr>
              <a:t>Власть одного лидера или одной партии</a:t>
            </a:r>
            <a:endParaRPr lang="en-US" sz="1500" dirty="0"/>
          </a:p>
          <a:p>
            <a:pPr marL="190500" indent="-190500">
              <a:spcAft>
                <a:spcPts val="600"/>
              </a:spcAft>
              <a:buSzPct val="100000"/>
              <a:buChar char="•"/>
            </a:pPr>
            <a:r>
              <a:rPr lang="en-US" sz="1500" dirty="0">
                <a:solidFill>
                  <a:schemeClr val="tx1"/>
                </a:solidFill>
              </a:rPr>
              <a:t>Обоснование: задачи модернизации и национального единства</a:t>
            </a:r>
            <a:endParaRPr lang="en-US" sz="1500" dirty="0"/>
          </a:p>
          <a:p>
            <a:pPr marL="190500" indent="-190500">
              <a:spcAft>
                <a:spcPts val="600"/>
              </a:spcAft>
              <a:buSzPct val="100000"/>
              <a:buChar char="•"/>
            </a:pPr>
            <a:r>
              <a:rPr lang="en-US" sz="1500" dirty="0">
                <a:solidFill>
                  <a:schemeClr val="tx1"/>
                </a:solidFill>
              </a:rPr>
              <a:t>Широкое распространение на континенте</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2"/>
                </a:solidFill>
              </a:rPr>
              <a:t>Военные перевороты и нестабильность</a:t>
            </a:r>
            <a:endParaRPr lang="en-US" sz="2400" dirty="0"/>
          </a:p>
        </p:txBody>
      </p:sp>
      <p:sp>
        <p:nvSpPr>
          <p:cNvPr id="3" name="step-1"/>
          <p:cNvSpPr/>
          <p:nvPr/>
        </p:nvSpPr>
        <p:spPr>
          <a:xfrm>
            <a:off x="457200" y="1325880"/>
            <a:ext cx="1382573" cy="1143000"/>
          </a:xfrm>
          <a:prstGeom prst="roundRect">
            <a:avLst>
              <a:gd name="adj" fmla="val 8000"/>
            </a:avLst>
          </a:prstGeom>
          <a:solidFill>
            <a:schemeClr val="tx2"/>
          </a:solidFill>
          <a:ln/>
        </p:spPr>
      </p:sp>
      <p:sp>
        <p:nvSpPr>
          <p:cNvPr id="4" name="Text 2"/>
          <p:cNvSpPr txBox="1"/>
          <p:nvPr/>
        </p:nvSpPr>
        <p:spPr>
          <a:xfrm>
            <a:off x="530352" y="1325880"/>
            <a:ext cx="1236269" cy="1143000"/>
          </a:xfrm>
          <a:prstGeom prst="rect">
            <a:avLst/>
          </a:prstGeom>
          <a:noFill/>
          <a:ln/>
        </p:spPr>
        <p:txBody>
          <a:bodyPr wrap="square" lIns="0" tIns="0" rIns="0" bIns="0" rtlCol="0" anchor="ctr"/>
          <a:lstStyle/>
          <a:p>
            <a:pPr algn="ctr" indent="0" marL="0">
              <a:buNone/>
            </a:pPr>
            <a:r>
              <a:rPr lang="en-US" sz="1250" b="1" dirty="0">
                <a:solidFill>
                  <a:schemeClr val="bg1"/>
                </a:solidFill>
                <a:latin typeface="+mj-lt" pitchFamily="34" charset="0"/>
                <a:ea typeface="+mj-lt" pitchFamily="34" charset="-122"/>
                <a:cs typeface="+mj-lt" pitchFamily="34" charset="-120"/>
              </a:rPr>
              <a:t>Слабые институты</a:t>
            </a:r>
            <a:endParaRPr lang="en-US" sz="1250" dirty="0"/>
          </a:p>
        </p:txBody>
      </p:sp>
      <p:sp>
        <p:nvSpPr>
          <p:cNvPr id="5" name="arrow-1"/>
          <p:cNvSpPr/>
          <p:nvPr/>
        </p:nvSpPr>
        <p:spPr>
          <a:xfrm>
            <a:off x="1894637" y="1760220"/>
            <a:ext cx="219456" cy="274320"/>
          </a:xfrm>
          <a:prstGeom prst="rightArrow">
            <a:avLst/>
          </a:prstGeom>
          <a:solidFill>
            <a:schemeClr val="accent2"/>
          </a:solidFill>
          <a:ln/>
        </p:spPr>
      </p:sp>
      <p:sp>
        <p:nvSpPr>
          <p:cNvPr id="6" name="step-desc-1"/>
          <p:cNvSpPr/>
          <p:nvPr/>
        </p:nvSpPr>
        <p:spPr>
          <a:xfrm>
            <a:off x="457200" y="2697480"/>
            <a:ext cx="1382573" cy="1188720"/>
          </a:xfrm>
          <a:prstGeom prst="roundRect">
            <a:avLst>
              <a:gd name="adj" fmla="val 6154"/>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7" name="Text 5"/>
          <p:cNvSpPr txBox="1"/>
          <p:nvPr/>
        </p:nvSpPr>
        <p:spPr>
          <a:xfrm>
            <a:off x="548640" y="2788920"/>
            <a:ext cx="1199693" cy="1005840"/>
          </a:xfrm>
          <a:prstGeom prst="rect">
            <a:avLst/>
          </a:prstGeom>
          <a:noFill/>
          <a:ln/>
        </p:spPr>
        <p:txBody>
          <a:bodyPr wrap="square" lIns="0" tIns="0" rIns="0" bIns="0" rtlCol="0" anchor="t"/>
          <a:lstStyle/>
          <a:p>
            <a:pPr algn="ctr" indent="0" marL="0">
              <a:buNone/>
            </a:pPr>
            <a:r>
              <a:rPr lang="en-US" sz="1250" dirty="0">
                <a:solidFill>
                  <a:schemeClr val="tx1"/>
                </a:solidFill>
              </a:rPr>
              <a:t>Государство не опирается на прочные традиции</a:t>
            </a:r>
            <a:endParaRPr lang="en-US" sz="1250" dirty="0"/>
          </a:p>
        </p:txBody>
      </p:sp>
      <p:sp>
        <p:nvSpPr>
          <p:cNvPr id="8" name="step-2"/>
          <p:cNvSpPr/>
          <p:nvPr/>
        </p:nvSpPr>
        <p:spPr>
          <a:xfrm>
            <a:off x="2168957" y="1325880"/>
            <a:ext cx="1382573" cy="1143000"/>
          </a:xfrm>
          <a:prstGeom prst="roundRect">
            <a:avLst>
              <a:gd name="adj" fmla="val 8000"/>
            </a:avLst>
          </a:prstGeom>
          <a:solidFill>
            <a:schemeClr val="tx2"/>
          </a:solidFill>
          <a:ln/>
        </p:spPr>
      </p:sp>
      <p:sp>
        <p:nvSpPr>
          <p:cNvPr id="9" name="Text 7"/>
          <p:cNvSpPr txBox="1"/>
          <p:nvPr/>
        </p:nvSpPr>
        <p:spPr>
          <a:xfrm>
            <a:off x="2242109" y="1325880"/>
            <a:ext cx="1236269" cy="1143000"/>
          </a:xfrm>
          <a:prstGeom prst="rect">
            <a:avLst/>
          </a:prstGeom>
          <a:noFill/>
          <a:ln/>
        </p:spPr>
        <p:txBody>
          <a:bodyPr wrap="square" lIns="0" tIns="0" rIns="0" bIns="0" rtlCol="0" anchor="ctr"/>
          <a:lstStyle/>
          <a:p>
            <a:pPr algn="ctr" indent="0" marL="0">
              <a:buNone/>
            </a:pPr>
            <a:r>
              <a:rPr lang="en-US" sz="1250" b="1" dirty="0">
                <a:solidFill>
                  <a:schemeClr val="bg1"/>
                </a:solidFill>
                <a:latin typeface="+mj-lt" pitchFamily="34" charset="0"/>
                <a:ea typeface="+mj-lt" pitchFamily="34" charset="-122"/>
                <a:cs typeface="+mj-lt" pitchFamily="34" charset="-120"/>
              </a:rPr>
              <a:t>Кризис</a:t>
            </a:r>
            <a:endParaRPr lang="en-US" sz="1250" dirty="0"/>
          </a:p>
        </p:txBody>
      </p:sp>
      <p:sp>
        <p:nvSpPr>
          <p:cNvPr id="10" name="arrow-2"/>
          <p:cNvSpPr/>
          <p:nvPr/>
        </p:nvSpPr>
        <p:spPr>
          <a:xfrm>
            <a:off x="3606394" y="1760220"/>
            <a:ext cx="219456" cy="274320"/>
          </a:xfrm>
          <a:prstGeom prst="rightArrow">
            <a:avLst/>
          </a:prstGeom>
          <a:solidFill>
            <a:schemeClr val="accent2"/>
          </a:solidFill>
          <a:ln/>
        </p:spPr>
      </p:sp>
      <p:sp>
        <p:nvSpPr>
          <p:cNvPr id="11" name="step-desc-2"/>
          <p:cNvSpPr/>
          <p:nvPr/>
        </p:nvSpPr>
        <p:spPr>
          <a:xfrm>
            <a:off x="2168957" y="2697480"/>
            <a:ext cx="1382573" cy="1188720"/>
          </a:xfrm>
          <a:prstGeom prst="roundRect">
            <a:avLst>
              <a:gd name="adj" fmla="val 6154"/>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12" name="Text 10"/>
          <p:cNvSpPr txBox="1"/>
          <p:nvPr/>
        </p:nvSpPr>
        <p:spPr>
          <a:xfrm>
            <a:off x="2260397" y="2788920"/>
            <a:ext cx="1199693" cy="1005840"/>
          </a:xfrm>
          <a:prstGeom prst="rect">
            <a:avLst/>
          </a:prstGeom>
          <a:noFill/>
          <a:ln/>
        </p:spPr>
        <p:txBody>
          <a:bodyPr wrap="square" lIns="0" tIns="0" rIns="0" bIns="0" rtlCol="0" anchor="t"/>
          <a:lstStyle/>
          <a:p>
            <a:pPr algn="ctr" indent="0" marL="0">
              <a:buNone/>
            </a:pPr>
            <a:r>
              <a:rPr lang="en-US" sz="1250" dirty="0">
                <a:solidFill>
                  <a:schemeClr val="tx1"/>
                </a:solidFill>
              </a:rPr>
              <a:t>Борьба за власть и экономические трудности</a:t>
            </a:r>
            <a:endParaRPr lang="en-US" sz="1250" dirty="0"/>
          </a:p>
        </p:txBody>
      </p:sp>
      <p:sp>
        <p:nvSpPr>
          <p:cNvPr id="13" name="step-3"/>
          <p:cNvSpPr/>
          <p:nvPr/>
        </p:nvSpPr>
        <p:spPr>
          <a:xfrm>
            <a:off x="3880714" y="1325880"/>
            <a:ext cx="1382573" cy="1143000"/>
          </a:xfrm>
          <a:prstGeom prst="roundRect">
            <a:avLst>
              <a:gd name="adj" fmla="val 8000"/>
            </a:avLst>
          </a:prstGeom>
          <a:solidFill>
            <a:schemeClr val="tx2"/>
          </a:solidFill>
          <a:ln/>
        </p:spPr>
      </p:sp>
      <p:sp>
        <p:nvSpPr>
          <p:cNvPr id="14" name="Text 12"/>
          <p:cNvSpPr txBox="1"/>
          <p:nvPr/>
        </p:nvSpPr>
        <p:spPr>
          <a:xfrm>
            <a:off x="3953866" y="1325880"/>
            <a:ext cx="1236269" cy="1143000"/>
          </a:xfrm>
          <a:prstGeom prst="rect">
            <a:avLst/>
          </a:prstGeom>
          <a:noFill/>
          <a:ln/>
        </p:spPr>
        <p:txBody>
          <a:bodyPr wrap="square" lIns="0" tIns="0" rIns="0" bIns="0" rtlCol="0" anchor="ctr"/>
          <a:lstStyle/>
          <a:p>
            <a:pPr algn="ctr" indent="0" marL="0">
              <a:buNone/>
            </a:pPr>
            <a:r>
              <a:rPr lang="en-US" sz="1250" b="1" dirty="0">
                <a:solidFill>
                  <a:schemeClr val="bg1"/>
                </a:solidFill>
                <a:latin typeface="+mj-lt" pitchFamily="34" charset="0"/>
                <a:ea typeface="+mj-lt" pitchFamily="34" charset="-122"/>
                <a:cs typeface="+mj-lt" pitchFamily="34" charset="-120"/>
              </a:rPr>
              <a:t>Военный переворот</a:t>
            </a:r>
            <a:endParaRPr lang="en-US" sz="1250" dirty="0"/>
          </a:p>
        </p:txBody>
      </p:sp>
      <p:sp>
        <p:nvSpPr>
          <p:cNvPr id="15" name="arrow-3"/>
          <p:cNvSpPr/>
          <p:nvPr/>
        </p:nvSpPr>
        <p:spPr>
          <a:xfrm>
            <a:off x="5318150" y="1760220"/>
            <a:ext cx="219456" cy="274320"/>
          </a:xfrm>
          <a:prstGeom prst="rightArrow">
            <a:avLst/>
          </a:prstGeom>
          <a:solidFill>
            <a:schemeClr val="accent2"/>
          </a:solidFill>
          <a:ln/>
        </p:spPr>
      </p:sp>
      <p:sp>
        <p:nvSpPr>
          <p:cNvPr id="16" name="step-desc-3"/>
          <p:cNvSpPr/>
          <p:nvPr/>
        </p:nvSpPr>
        <p:spPr>
          <a:xfrm>
            <a:off x="3880714" y="2697480"/>
            <a:ext cx="1382573" cy="1188720"/>
          </a:xfrm>
          <a:prstGeom prst="roundRect">
            <a:avLst>
              <a:gd name="adj" fmla="val 6154"/>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17" name="Text 15"/>
          <p:cNvSpPr txBox="1"/>
          <p:nvPr/>
        </p:nvSpPr>
        <p:spPr>
          <a:xfrm>
            <a:off x="3972154" y="2788920"/>
            <a:ext cx="1199693" cy="1005840"/>
          </a:xfrm>
          <a:prstGeom prst="rect">
            <a:avLst/>
          </a:prstGeom>
          <a:noFill/>
          <a:ln/>
        </p:spPr>
        <p:txBody>
          <a:bodyPr wrap="square" lIns="0" tIns="0" rIns="0" bIns="0" rtlCol="0" anchor="t"/>
          <a:lstStyle/>
          <a:p>
            <a:pPr algn="ctr" indent="0" marL="0">
              <a:buNone/>
            </a:pPr>
            <a:r>
              <a:rPr lang="en-US" sz="1250" dirty="0">
                <a:solidFill>
                  <a:schemeClr val="tx1"/>
                </a:solidFill>
              </a:rPr>
              <a:t>Армия вмешивается в политику</a:t>
            </a:r>
            <a:endParaRPr lang="en-US" sz="1250" dirty="0"/>
          </a:p>
        </p:txBody>
      </p:sp>
      <p:sp>
        <p:nvSpPr>
          <p:cNvPr id="18" name="step-4"/>
          <p:cNvSpPr/>
          <p:nvPr/>
        </p:nvSpPr>
        <p:spPr>
          <a:xfrm>
            <a:off x="5592470" y="1325880"/>
            <a:ext cx="1382573" cy="1143000"/>
          </a:xfrm>
          <a:prstGeom prst="roundRect">
            <a:avLst>
              <a:gd name="adj" fmla="val 8000"/>
            </a:avLst>
          </a:prstGeom>
          <a:solidFill>
            <a:schemeClr val="tx2"/>
          </a:solidFill>
          <a:ln/>
        </p:spPr>
      </p:sp>
      <p:sp>
        <p:nvSpPr>
          <p:cNvPr id="19" name="Text 17"/>
          <p:cNvSpPr txBox="1"/>
          <p:nvPr/>
        </p:nvSpPr>
        <p:spPr>
          <a:xfrm>
            <a:off x="5665622" y="1325880"/>
            <a:ext cx="1236269" cy="1143000"/>
          </a:xfrm>
          <a:prstGeom prst="rect">
            <a:avLst/>
          </a:prstGeom>
          <a:noFill/>
          <a:ln/>
        </p:spPr>
        <p:txBody>
          <a:bodyPr wrap="square" lIns="0" tIns="0" rIns="0" bIns="0" rtlCol="0" anchor="ctr"/>
          <a:lstStyle/>
          <a:p>
            <a:pPr algn="ctr" indent="0" marL="0">
              <a:buNone/>
            </a:pPr>
            <a:r>
              <a:rPr lang="en-US" sz="1250" b="1" dirty="0">
                <a:solidFill>
                  <a:schemeClr val="bg1"/>
                </a:solidFill>
                <a:latin typeface="+mj-lt" pitchFamily="34" charset="0"/>
                <a:ea typeface="+mj-lt" pitchFamily="34" charset="-122"/>
                <a:cs typeface="+mj-lt" pitchFamily="34" charset="-120"/>
              </a:rPr>
              <a:t>Военный режим</a:t>
            </a:r>
            <a:endParaRPr lang="en-US" sz="1250" dirty="0"/>
          </a:p>
        </p:txBody>
      </p:sp>
      <p:sp>
        <p:nvSpPr>
          <p:cNvPr id="20" name="arrow-4"/>
          <p:cNvSpPr/>
          <p:nvPr/>
        </p:nvSpPr>
        <p:spPr>
          <a:xfrm>
            <a:off x="7029907" y="1760220"/>
            <a:ext cx="219456" cy="274320"/>
          </a:xfrm>
          <a:prstGeom prst="rightArrow">
            <a:avLst/>
          </a:prstGeom>
          <a:solidFill>
            <a:schemeClr val="accent2"/>
          </a:solidFill>
          <a:ln/>
        </p:spPr>
      </p:sp>
      <p:sp>
        <p:nvSpPr>
          <p:cNvPr id="21" name="step-desc-4"/>
          <p:cNvSpPr/>
          <p:nvPr/>
        </p:nvSpPr>
        <p:spPr>
          <a:xfrm>
            <a:off x="5592470" y="2697480"/>
            <a:ext cx="1382573" cy="1188720"/>
          </a:xfrm>
          <a:prstGeom prst="roundRect">
            <a:avLst>
              <a:gd name="adj" fmla="val 6154"/>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22" name="Text 20"/>
          <p:cNvSpPr txBox="1"/>
          <p:nvPr/>
        </p:nvSpPr>
        <p:spPr>
          <a:xfrm>
            <a:off x="5683910" y="2788920"/>
            <a:ext cx="1199693" cy="1005840"/>
          </a:xfrm>
          <a:prstGeom prst="rect">
            <a:avLst/>
          </a:prstGeom>
          <a:noFill/>
          <a:ln/>
        </p:spPr>
        <p:txBody>
          <a:bodyPr wrap="square" lIns="0" tIns="0" rIns="0" bIns="0" rtlCol="0" anchor="t"/>
          <a:lstStyle/>
          <a:p>
            <a:pPr algn="ctr" indent="0" marL="0">
              <a:buNone/>
            </a:pPr>
            <a:r>
              <a:rPr lang="en-US" sz="1250" dirty="0">
                <a:solidFill>
                  <a:schemeClr val="tx1"/>
                </a:solidFill>
              </a:rPr>
              <a:t>Реформы откладываются</a:t>
            </a:r>
            <a:endParaRPr lang="en-US" sz="1250" dirty="0"/>
          </a:p>
        </p:txBody>
      </p:sp>
      <p:sp>
        <p:nvSpPr>
          <p:cNvPr id="23" name="step-5"/>
          <p:cNvSpPr/>
          <p:nvPr/>
        </p:nvSpPr>
        <p:spPr>
          <a:xfrm>
            <a:off x="7304227" y="1325880"/>
            <a:ext cx="1382573" cy="1143000"/>
          </a:xfrm>
          <a:prstGeom prst="roundRect">
            <a:avLst>
              <a:gd name="adj" fmla="val 8000"/>
            </a:avLst>
          </a:prstGeom>
          <a:solidFill>
            <a:schemeClr val="accent1"/>
          </a:solidFill>
          <a:ln/>
        </p:spPr>
      </p:sp>
      <p:sp>
        <p:nvSpPr>
          <p:cNvPr id="24" name="Text 22"/>
          <p:cNvSpPr txBox="1"/>
          <p:nvPr/>
        </p:nvSpPr>
        <p:spPr>
          <a:xfrm>
            <a:off x="7377379" y="1325880"/>
            <a:ext cx="1236269" cy="1143000"/>
          </a:xfrm>
          <a:prstGeom prst="rect">
            <a:avLst/>
          </a:prstGeom>
          <a:noFill/>
          <a:ln/>
        </p:spPr>
        <p:txBody>
          <a:bodyPr wrap="square" lIns="0" tIns="0" rIns="0" bIns="0" rtlCol="0" anchor="ctr"/>
          <a:lstStyle/>
          <a:p>
            <a:pPr algn="ctr" indent="0" marL="0">
              <a:buNone/>
            </a:pPr>
            <a:r>
              <a:rPr lang="en-US" sz="1250" b="1" dirty="0">
                <a:solidFill>
                  <a:schemeClr val="bg1"/>
                </a:solidFill>
                <a:latin typeface="+mj-lt" pitchFamily="34" charset="0"/>
                <a:ea typeface="+mj-lt" pitchFamily="34" charset="-122"/>
                <a:cs typeface="+mj-lt" pitchFamily="34" charset="-120"/>
              </a:rPr>
              <a:t>Гражданская власть</a:t>
            </a:r>
            <a:endParaRPr lang="en-US" sz="1250" dirty="0"/>
          </a:p>
        </p:txBody>
      </p:sp>
      <p:sp>
        <p:nvSpPr>
          <p:cNvPr id="25" name="step-desc-5"/>
          <p:cNvSpPr/>
          <p:nvPr/>
        </p:nvSpPr>
        <p:spPr>
          <a:xfrm>
            <a:off x="7304227" y="2697480"/>
            <a:ext cx="1382573" cy="1188720"/>
          </a:xfrm>
          <a:prstGeom prst="roundRect">
            <a:avLst>
              <a:gd name="adj" fmla="val 6154"/>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26" name="Text 24"/>
          <p:cNvSpPr txBox="1"/>
          <p:nvPr/>
        </p:nvSpPr>
        <p:spPr>
          <a:xfrm>
            <a:off x="7395667" y="2788920"/>
            <a:ext cx="1199693" cy="1005840"/>
          </a:xfrm>
          <a:prstGeom prst="rect">
            <a:avLst/>
          </a:prstGeom>
          <a:noFill/>
          <a:ln/>
        </p:spPr>
        <p:txBody>
          <a:bodyPr wrap="square" lIns="0" tIns="0" rIns="0" bIns="0" rtlCol="0" anchor="t"/>
          <a:lstStyle/>
          <a:p>
            <a:pPr algn="ctr" indent="0" marL="0">
              <a:buNone/>
            </a:pPr>
            <a:r>
              <a:rPr lang="en-US" sz="1250" dirty="0">
                <a:solidFill>
                  <a:schemeClr val="tx1"/>
                </a:solidFill>
              </a:rPr>
              <a:t>…и цикл может повториться</a:t>
            </a:r>
            <a:endParaRPr lang="en-US" sz="1250" dirty="0"/>
          </a:p>
        </p:txBody>
      </p:sp>
      <p:sp>
        <p:nvSpPr>
          <p:cNvPr id="27" name="Text 25"/>
          <p:cNvSpPr txBox="1"/>
          <p:nvPr/>
        </p:nvSpPr>
        <p:spPr>
          <a:xfrm>
            <a:off x="457200" y="4114800"/>
            <a:ext cx="8229600" cy="457200"/>
          </a:xfrm>
          <a:prstGeom prst="rect">
            <a:avLst/>
          </a:prstGeom>
          <a:noFill/>
          <a:ln/>
        </p:spPr>
        <p:txBody>
          <a:bodyPr wrap="square" lIns="0" tIns="0" rIns="0" bIns="0" rtlCol="0" anchor="ctr"/>
          <a:lstStyle/>
          <a:p>
            <a:pPr indent="0" marL="0">
              <a:buNone/>
            </a:pPr>
            <a:r>
              <a:rPr lang="en-US" sz="1500" i="1" dirty="0">
                <a:solidFill>
                  <a:schemeClr val="accent5"/>
                </a:solidFill>
              </a:rPr>
              <a:t>Особенно часто такие процессы происходили в странах Западной и Центральной Африки</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2"/>
                </a:solidFill>
              </a:rPr>
              <a:t>Гражданские войны и конфликты</a:t>
            </a:r>
            <a:endParaRPr lang="en-US" sz="2400" dirty="0"/>
          </a:p>
        </p:txBody>
      </p:sp>
      <p:sp>
        <p:nvSpPr>
          <p:cNvPr id="3" name="conflict-1"/>
          <p:cNvSpPr/>
          <p:nvPr/>
        </p:nvSpPr>
        <p:spPr>
          <a:xfrm>
            <a:off x="457200" y="1188720"/>
            <a:ext cx="3931920" cy="1600200"/>
          </a:xfrm>
          <a:prstGeom prst="roundRect">
            <a:avLst>
              <a:gd name="adj" fmla="val 5714"/>
            </a:avLst>
          </a:prstGeom>
          <a:solidFill>
            <a:schemeClr val="tx2"/>
          </a:solidFill>
          <a:ln/>
        </p:spPr>
      </p:sp>
      <p:sp>
        <p:nvSpPr>
          <p:cNvPr id="4" name="Text 2"/>
          <p:cNvSpPr txBox="1"/>
          <p:nvPr/>
        </p:nvSpPr>
        <p:spPr>
          <a:xfrm>
            <a:off x="640080" y="1325880"/>
            <a:ext cx="3566160" cy="548640"/>
          </a:xfrm>
          <a:prstGeom prst="rect">
            <a:avLst/>
          </a:prstGeom>
          <a:noFill/>
          <a:ln/>
        </p:spPr>
        <p:txBody>
          <a:bodyPr wrap="square" lIns="0" tIns="0" rIns="0" bIns="0" rtlCol="0" anchor="ctr"/>
          <a:lstStyle/>
          <a:p>
            <a:pPr indent="0" marL="0">
              <a:buNone/>
            </a:pPr>
            <a:r>
              <a:rPr lang="en-US" sz="2200" b="1" dirty="0">
                <a:solidFill>
                  <a:schemeClr val="bg1"/>
                </a:solidFill>
                <a:latin typeface="+mj-lt" pitchFamily="34" charset="0"/>
                <a:ea typeface="+mj-lt" pitchFamily="34" charset="-122"/>
                <a:cs typeface="+mj-lt" pitchFamily="34" charset="-120"/>
              </a:rPr>
              <a:t>Нигерия, 1967–1970</a:t>
            </a:r>
            <a:endParaRPr lang="en-US" sz="2200" dirty="0"/>
          </a:p>
        </p:txBody>
      </p:sp>
      <p:sp>
        <p:nvSpPr>
          <p:cNvPr id="5" name="Text 3"/>
          <p:cNvSpPr txBox="1"/>
          <p:nvPr/>
        </p:nvSpPr>
        <p:spPr>
          <a:xfrm>
            <a:off x="640080" y="1920240"/>
            <a:ext cx="3566160" cy="731520"/>
          </a:xfrm>
          <a:prstGeom prst="rect">
            <a:avLst/>
          </a:prstGeom>
          <a:noFill/>
          <a:ln/>
        </p:spPr>
        <p:txBody>
          <a:bodyPr wrap="square" lIns="0" tIns="0" rIns="0" bIns="0" rtlCol="0" anchor="t"/>
          <a:lstStyle/>
          <a:p>
            <a:pPr indent="0" marL="0">
              <a:buNone/>
            </a:pPr>
            <a:r>
              <a:rPr lang="en-US" sz="1500" dirty="0">
                <a:solidFill>
                  <a:schemeClr val="bg2"/>
                </a:solidFill>
              </a:rPr>
              <a:t>Гражданская война, известная как война в Биафре</a:t>
            </a:r>
            <a:endParaRPr lang="en-US" sz="1500" dirty="0"/>
          </a:p>
        </p:txBody>
      </p:sp>
      <p:sp>
        <p:nvSpPr>
          <p:cNvPr id="6" name="conflict-2"/>
          <p:cNvSpPr/>
          <p:nvPr/>
        </p:nvSpPr>
        <p:spPr>
          <a:xfrm>
            <a:off x="457200" y="2971800"/>
            <a:ext cx="3931920" cy="1600200"/>
          </a:xfrm>
          <a:prstGeom prst="roundRect">
            <a:avLst>
              <a:gd name="adj" fmla="val 5714"/>
            </a:avLst>
          </a:prstGeom>
          <a:solidFill>
            <a:schemeClr val="accent1"/>
          </a:solidFill>
          <a:ln/>
        </p:spPr>
      </p:sp>
      <p:sp>
        <p:nvSpPr>
          <p:cNvPr id="7" name="Text 5"/>
          <p:cNvSpPr txBox="1"/>
          <p:nvPr/>
        </p:nvSpPr>
        <p:spPr>
          <a:xfrm>
            <a:off x="640080" y="3108960"/>
            <a:ext cx="3566160" cy="548640"/>
          </a:xfrm>
          <a:prstGeom prst="rect">
            <a:avLst/>
          </a:prstGeom>
          <a:noFill/>
          <a:ln/>
        </p:spPr>
        <p:txBody>
          <a:bodyPr wrap="square" lIns="0" tIns="0" rIns="0" bIns="0" rtlCol="0" anchor="ctr"/>
          <a:lstStyle/>
          <a:p>
            <a:pPr indent="0" marL="0">
              <a:buNone/>
            </a:pPr>
            <a:r>
              <a:rPr lang="en-US" sz="2200" b="1" dirty="0">
                <a:solidFill>
                  <a:schemeClr val="bg1"/>
                </a:solidFill>
                <a:latin typeface="+mj-lt" pitchFamily="34" charset="0"/>
                <a:ea typeface="+mj-lt" pitchFamily="34" charset="-122"/>
                <a:cs typeface="+mj-lt" pitchFamily="34" charset="-120"/>
              </a:rPr>
              <a:t>Руанда, 1994</a:t>
            </a:r>
            <a:endParaRPr lang="en-US" sz="2200" dirty="0"/>
          </a:p>
        </p:txBody>
      </p:sp>
      <p:sp>
        <p:nvSpPr>
          <p:cNvPr id="8" name="Text 6"/>
          <p:cNvSpPr txBox="1"/>
          <p:nvPr/>
        </p:nvSpPr>
        <p:spPr>
          <a:xfrm>
            <a:off x="640080" y="3703320"/>
            <a:ext cx="3566160" cy="731520"/>
          </a:xfrm>
          <a:prstGeom prst="rect">
            <a:avLst/>
          </a:prstGeom>
          <a:noFill/>
          <a:ln/>
        </p:spPr>
        <p:txBody>
          <a:bodyPr wrap="square" lIns="0" tIns="0" rIns="0" bIns="0" rtlCol="0" anchor="t"/>
          <a:lstStyle/>
          <a:p>
            <a:pPr indent="0" marL="0">
              <a:buNone/>
            </a:pPr>
            <a:r>
              <a:rPr lang="en-US" sz="1500" dirty="0">
                <a:solidFill>
                  <a:schemeClr val="bg2"/>
                </a:solidFill>
              </a:rPr>
              <a:t>Геноцид, унёсший жизни сотен тысяч людей</a:t>
            </a:r>
            <a:endParaRPr lang="en-US" sz="1500" dirty="0"/>
          </a:p>
        </p:txBody>
      </p:sp>
      <p:sp>
        <p:nvSpPr>
          <p:cNvPr id="9" name="Text 7"/>
          <p:cNvSpPr txBox="1"/>
          <p:nvPr/>
        </p:nvSpPr>
        <p:spPr>
          <a:xfrm>
            <a:off x="4754880" y="1188720"/>
            <a:ext cx="3931920" cy="411480"/>
          </a:xfrm>
          <a:prstGeom prst="rect">
            <a:avLst/>
          </a:prstGeom>
          <a:noFill/>
          <a:ln/>
        </p:spPr>
        <p:txBody>
          <a:bodyPr wrap="square" lIns="0" tIns="0" rIns="0" bIns="0" rtlCol="0" anchor="ctr"/>
          <a:lstStyle/>
          <a:p>
            <a:pPr indent="0" marL="0">
              <a:buNone/>
            </a:pPr>
            <a:r>
              <a:rPr lang="en-US" sz="1700" b="1" dirty="0">
                <a:solidFill>
                  <a:schemeClr val="tx2"/>
                </a:solidFill>
                <a:latin typeface="+mj-lt" pitchFamily="34" charset="0"/>
                <a:ea typeface="+mj-lt" pitchFamily="34" charset="-122"/>
                <a:cs typeface="+mj-lt" pitchFamily="34" charset="-120"/>
              </a:rPr>
              <a:t>Причины конфликтов</a:t>
            </a:r>
            <a:endParaRPr lang="en-US" sz="1700" dirty="0"/>
          </a:p>
        </p:txBody>
      </p:sp>
      <p:sp>
        <p:nvSpPr>
          <p:cNvPr id="10" name="cause-1"/>
          <p:cNvSpPr/>
          <p:nvPr/>
        </p:nvSpPr>
        <p:spPr>
          <a:xfrm>
            <a:off x="4754880" y="1737360"/>
            <a:ext cx="3931920" cy="594360"/>
          </a:xfrm>
          <a:prstGeom prst="roundRect">
            <a:avLst>
              <a:gd name="adj" fmla="val 12308"/>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11" name="icon-circle"/>
          <p:cNvSpPr/>
          <p:nvPr/>
        </p:nvSpPr>
        <p:spPr>
          <a:xfrm>
            <a:off x="4846320" y="1828800"/>
            <a:ext cx="411480" cy="411480"/>
          </a:xfrm>
          <a:prstGeom prst="ellipse">
            <a:avLst/>
          </a:prstGeom>
          <a:solidFill>
            <a:schemeClr val="accent1"/>
          </a:solidFill>
          <a:ln/>
        </p:spPr>
      </p:sp>
      <p:pic>
        <p:nvPicPr>
          <p:cNvPr id="12" name="icon-FaUsers" descr="preencoded.png">    </p:cNvPr>
          <p:cNvPicPr>
            <a:picLocks noChangeAspect="1"/>
          </p:cNvPicPr>
          <p:nvPr/>
        </p:nvPicPr>
        <p:blipFill>
          <a:blip r:embed="rId1"/>
          <a:stretch>
            <a:fillRect/>
          </a:stretch>
        </p:blipFill>
        <p:spPr>
          <a:xfrm>
            <a:off x="4936846" y="1919326"/>
            <a:ext cx="230429" cy="230429"/>
          </a:xfrm>
          <a:prstGeom prst="rect">
            <a:avLst/>
          </a:prstGeom>
        </p:spPr>
      </p:pic>
      <p:sp>
        <p:nvSpPr>
          <p:cNvPr id="13" name="Text 10"/>
          <p:cNvSpPr txBox="1"/>
          <p:nvPr/>
        </p:nvSpPr>
        <p:spPr>
          <a:xfrm>
            <a:off x="5394960" y="1737360"/>
            <a:ext cx="3200400" cy="594360"/>
          </a:xfrm>
          <a:prstGeom prst="rect">
            <a:avLst/>
          </a:prstGeom>
          <a:noFill/>
          <a:ln/>
        </p:spPr>
        <p:txBody>
          <a:bodyPr wrap="square" lIns="0" tIns="0" rIns="0" bIns="0" rtlCol="0" anchor="ctr"/>
          <a:lstStyle/>
          <a:p>
            <a:pPr indent="0" marL="0">
              <a:buNone/>
            </a:pPr>
            <a:r>
              <a:rPr lang="en-US" sz="1500" dirty="0">
                <a:solidFill>
                  <a:schemeClr val="tx1"/>
                </a:solidFill>
              </a:rPr>
              <a:t>Этнические противоречия</a:t>
            </a:r>
            <a:endParaRPr lang="en-US" sz="1500" dirty="0"/>
          </a:p>
        </p:txBody>
      </p:sp>
      <p:sp>
        <p:nvSpPr>
          <p:cNvPr id="14" name="cause-2"/>
          <p:cNvSpPr/>
          <p:nvPr/>
        </p:nvSpPr>
        <p:spPr>
          <a:xfrm>
            <a:off x="4754880" y="2468880"/>
            <a:ext cx="3931920" cy="594360"/>
          </a:xfrm>
          <a:prstGeom prst="roundRect">
            <a:avLst>
              <a:gd name="adj" fmla="val 12308"/>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15" name="icon-circle"/>
          <p:cNvSpPr/>
          <p:nvPr/>
        </p:nvSpPr>
        <p:spPr>
          <a:xfrm>
            <a:off x="4846320" y="2560320"/>
            <a:ext cx="411480" cy="411480"/>
          </a:xfrm>
          <a:prstGeom prst="ellipse">
            <a:avLst/>
          </a:prstGeom>
          <a:solidFill>
            <a:schemeClr val="accent1"/>
          </a:solidFill>
          <a:ln/>
        </p:spPr>
      </p:sp>
      <p:pic>
        <p:nvPicPr>
          <p:cNvPr id="16" name="icon-FaGem" descr="preencoded.png">    </p:cNvPr>
          <p:cNvPicPr>
            <a:picLocks noChangeAspect="1"/>
          </p:cNvPicPr>
          <p:nvPr/>
        </p:nvPicPr>
        <p:blipFill>
          <a:blip r:embed="rId2"/>
          <a:stretch>
            <a:fillRect/>
          </a:stretch>
        </p:blipFill>
        <p:spPr>
          <a:xfrm>
            <a:off x="4936846" y="2650846"/>
            <a:ext cx="230429" cy="230429"/>
          </a:xfrm>
          <a:prstGeom prst="rect">
            <a:avLst/>
          </a:prstGeom>
        </p:spPr>
      </p:pic>
      <p:sp>
        <p:nvSpPr>
          <p:cNvPr id="17" name="Text 13"/>
          <p:cNvSpPr txBox="1"/>
          <p:nvPr/>
        </p:nvSpPr>
        <p:spPr>
          <a:xfrm>
            <a:off x="5394960" y="2468880"/>
            <a:ext cx="3200400" cy="594360"/>
          </a:xfrm>
          <a:prstGeom prst="rect">
            <a:avLst/>
          </a:prstGeom>
          <a:noFill/>
          <a:ln/>
        </p:spPr>
        <p:txBody>
          <a:bodyPr wrap="square" lIns="0" tIns="0" rIns="0" bIns="0" rtlCol="0" anchor="ctr"/>
          <a:lstStyle/>
          <a:p>
            <a:pPr indent="0" marL="0">
              <a:buNone/>
            </a:pPr>
            <a:r>
              <a:rPr lang="en-US" sz="1500" dirty="0">
                <a:solidFill>
                  <a:schemeClr val="tx1"/>
                </a:solidFill>
              </a:rPr>
              <a:t>Борьба за природные ресурсы</a:t>
            </a:r>
            <a:endParaRPr lang="en-US" sz="1500" dirty="0"/>
          </a:p>
        </p:txBody>
      </p:sp>
      <p:sp>
        <p:nvSpPr>
          <p:cNvPr id="18" name="cause-3"/>
          <p:cNvSpPr/>
          <p:nvPr/>
        </p:nvSpPr>
        <p:spPr>
          <a:xfrm>
            <a:off x="4754880" y="3200400"/>
            <a:ext cx="3931920" cy="594360"/>
          </a:xfrm>
          <a:prstGeom prst="roundRect">
            <a:avLst>
              <a:gd name="adj" fmla="val 12308"/>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19" name="icon-circle"/>
          <p:cNvSpPr/>
          <p:nvPr/>
        </p:nvSpPr>
        <p:spPr>
          <a:xfrm>
            <a:off x="4846320" y="3291840"/>
            <a:ext cx="411480" cy="411480"/>
          </a:xfrm>
          <a:prstGeom prst="ellipse">
            <a:avLst/>
          </a:prstGeom>
          <a:solidFill>
            <a:schemeClr val="accent1"/>
          </a:solidFill>
          <a:ln/>
        </p:spPr>
      </p:sp>
      <p:pic>
        <p:nvPicPr>
          <p:cNvPr id="20" name="icon-FaBalanceScale" descr="preencoded.png">    </p:cNvPr>
          <p:cNvPicPr>
            <a:picLocks noChangeAspect="1"/>
          </p:cNvPicPr>
          <p:nvPr/>
        </p:nvPicPr>
        <p:blipFill>
          <a:blip r:embed="rId3"/>
          <a:stretch>
            <a:fillRect/>
          </a:stretch>
        </p:blipFill>
        <p:spPr>
          <a:xfrm>
            <a:off x="4936846" y="3382366"/>
            <a:ext cx="230429" cy="230429"/>
          </a:xfrm>
          <a:prstGeom prst="rect">
            <a:avLst/>
          </a:prstGeom>
        </p:spPr>
      </p:pic>
      <p:sp>
        <p:nvSpPr>
          <p:cNvPr id="21" name="Text 16"/>
          <p:cNvSpPr txBox="1"/>
          <p:nvPr/>
        </p:nvSpPr>
        <p:spPr>
          <a:xfrm>
            <a:off x="5394960" y="3200400"/>
            <a:ext cx="3200400" cy="594360"/>
          </a:xfrm>
          <a:prstGeom prst="rect">
            <a:avLst/>
          </a:prstGeom>
          <a:noFill/>
          <a:ln/>
        </p:spPr>
        <p:txBody>
          <a:bodyPr wrap="square" lIns="0" tIns="0" rIns="0" bIns="0" rtlCol="0" anchor="ctr"/>
          <a:lstStyle/>
          <a:p>
            <a:pPr indent="0" marL="0">
              <a:buNone/>
            </a:pPr>
            <a:r>
              <a:rPr lang="en-US" sz="1500" dirty="0">
                <a:solidFill>
                  <a:schemeClr val="tx1"/>
                </a:solidFill>
              </a:rPr>
              <a:t>Политическое соперничество</a:t>
            </a:r>
            <a:endParaRPr lang="en-US" sz="1500" dirty="0"/>
          </a:p>
        </p:txBody>
      </p:sp>
      <p:sp>
        <p:nvSpPr>
          <p:cNvPr id="22" name="cause-4"/>
          <p:cNvSpPr/>
          <p:nvPr/>
        </p:nvSpPr>
        <p:spPr>
          <a:xfrm>
            <a:off x="4754880" y="3931920"/>
            <a:ext cx="3931920" cy="594360"/>
          </a:xfrm>
          <a:prstGeom prst="roundRect">
            <a:avLst>
              <a:gd name="adj" fmla="val 12308"/>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23" name="icon-circle"/>
          <p:cNvSpPr/>
          <p:nvPr/>
        </p:nvSpPr>
        <p:spPr>
          <a:xfrm>
            <a:off x="4846320" y="4023360"/>
            <a:ext cx="411480" cy="411480"/>
          </a:xfrm>
          <a:prstGeom prst="ellipse">
            <a:avLst/>
          </a:prstGeom>
          <a:solidFill>
            <a:schemeClr val="accent1"/>
          </a:solidFill>
          <a:ln/>
        </p:spPr>
      </p:sp>
      <p:pic>
        <p:nvPicPr>
          <p:cNvPr id="24" name="icon-FaGlobe" descr="preencoded.png">    </p:cNvPr>
          <p:cNvPicPr>
            <a:picLocks noChangeAspect="1"/>
          </p:cNvPicPr>
          <p:nvPr/>
        </p:nvPicPr>
        <p:blipFill>
          <a:blip r:embed="rId4"/>
          <a:stretch>
            <a:fillRect/>
          </a:stretch>
        </p:blipFill>
        <p:spPr>
          <a:xfrm>
            <a:off x="4936846" y="4113886"/>
            <a:ext cx="230429" cy="230429"/>
          </a:xfrm>
          <a:prstGeom prst="rect">
            <a:avLst/>
          </a:prstGeom>
        </p:spPr>
      </p:pic>
      <p:sp>
        <p:nvSpPr>
          <p:cNvPr id="25" name="Text 19"/>
          <p:cNvSpPr txBox="1"/>
          <p:nvPr/>
        </p:nvSpPr>
        <p:spPr>
          <a:xfrm>
            <a:off x="5394960" y="3931920"/>
            <a:ext cx="3200400" cy="594360"/>
          </a:xfrm>
          <a:prstGeom prst="rect">
            <a:avLst/>
          </a:prstGeom>
          <a:noFill/>
          <a:ln/>
        </p:spPr>
        <p:txBody>
          <a:bodyPr wrap="square" lIns="0" tIns="0" rIns="0" bIns="0" rtlCol="0" anchor="ctr"/>
          <a:lstStyle/>
          <a:p>
            <a:pPr indent="0" marL="0">
              <a:buNone/>
            </a:pPr>
            <a:r>
              <a:rPr lang="en-US" sz="1500" dirty="0">
                <a:solidFill>
                  <a:schemeClr val="tx1"/>
                </a:solidFill>
              </a:rPr>
              <a:t>Вмешательство внешних сил</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2"/>
                </a:solidFill>
              </a:rPr>
              <a:t>Экономические проблемы Африки</a:t>
            </a:r>
            <a:endParaRPr lang="en-US" sz="2400" dirty="0"/>
          </a:p>
        </p:txBody>
      </p:sp>
      <p:sp>
        <p:nvSpPr>
          <p:cNvPr id="3" name="Text 1"/>
          <p:cNvSpPr txBox="1"/>
          <p:nvPr/>
        </p:nvSpPr>
        <p:spPr>
          <a:xfrm>
            <a:off x="457200" y="987552"/>
            <a:ext cx="8229600" cy="365760"/>
          </a:xfrm>
          <a:prstGeom prst="rect">
            <a:avLst/>
          </a:prstGeom>
          <a:noFill/>
          <a:ln/>
        </p:spPr>
        <p:txBody>
          <a:bodyPr wrap="square" lIns="0" tIns="0" rIns="0" bIns="0" rtlCol="0" anchor="ctr"/>
          <a:lstStyle/>
          <a:p>
            <a:pPr indent="0" marL="0">
              <a:buNone/>
            </a:pPr>
            <a:r>
              <a:rPr lang="en-US" sz="1400" i="1" dirty="0">
                <a:solidFill>
                  <a:schemeClr val="accent5"/>
                </a:solidFill>
              </a:rPr>
              <a:t>Колониальная структура хозяйства сохранилась и после обретения независимости</a:t>
            </a:r>
            <a:endParaRPr lang="en-US" sz="1400" dirty="0"/>
          </a:p>
        </p:txBody>
      </p:sp>
      <p:sp>
        <p:nvSpPr>
          <p:cNvPr id="4" name="card-1"/>
          <p:cNvSpPr/>
          <p:nvPr/>
        </p:nvSpPr>
        <p:spPr>
          <a:xfrm>
            <a:off x="457200" y="1508760"/>
            <a:ext cx="2560320" cy="3063240"/>
          </a:xfrm>
          <a:prstGeom prst="roundRect">
            <a:avLst>
              <a:gd name="adj" fmla="val 2857"/>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5" name="icon-circle"/>
          <p:cNvSpPr/>
          <p:nvPr/>
        </p:nvSpPr>
        <p:spPr>
          <a:xfrm>
            <a:off x="640080" y="1691640"/>
            <a:ext cx="594360" cy="594360"/>
          </a:xfrm>
          <a:prstGeom prst="ellipse">
            <a:avLst/>
          </a:prstGeom>
          <a:solidFill>
            <a:schemeClr val="accent1"/>
          </a:solidFill>
          <a:ln/>
        </p:spPr>
      </p:sp>
      <p:pic>
        <p:nvPicPr>
          <p:cNvPr id="6" name="icon-FaOilCan" descr="preencoded.png">    </p:cNvPr>
          <p:cNvPicPr>
            <a:picLocks noChangeAspect="1"/>
          </p:cNvPicPr>
          <p:nvPr/>
        </p:nvPicPr>
        <p:blipFill>
          <a:blip r:embed="rId1"/>
          <a:stretch>
            <a:fillRect/>
          </a:stretch>
        </p:blipFill>
        <p:spPr>
          <a:xfrm>
            <a:off x="770839" y="1822399"/>
            <a:ext cx="332842" cy="332842"/>
          </a:xfrm>
          <a:prstGeom prst="rect">
            <a:avLst/>
          </a:prstGeom>
        </p:spPr>
      </p:pic>
      <p:sp>
        <p:nvSpPr>
          <p:cNvPr id="7" name="Text 4"/>
          <p:cNvSpPr txBox="1"/>
          <p:nvPr/>
        </p:nvSpPr>
        <p:spPr>
          <a:xfrm>
            <a:off x="640080" y="2423160"/>
            <a:ext cx="2194560" cy="73152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Сырьевая экономика</a:t>
            </a:r>
            <a:endParaRPr lang="en-US" sz="1700" dirty="0"/>
          </a:p>
        </p:txBody>
      </p:sp>
      <p:sp>
        <p:nvSpPr>
          <p:cNvPr id="8" name="Text 5"/>
          <p:cNvSpPr txBox="1"/>
          <p:nvPr/>
        </p:nvSpPr>
        <p:spPr>
          <a:xfrm>
            <a:off x="640080" y="3200400"/>
            <a:ext cx="2194560" cy="1280160"/>
          </a:xfrm>
          <a:prstGeom prst="rect">
            <a:avLst/>
          </a:prstGeom>
          <a:noFill/>
          <a:ln/>
        </p:spPr>
        <p:txBody>
          <a:bodyPr wrap="square" lIns="0" tIns="0" rIns="0" bIns="0" rtlCol="0" anchor="t"/>
          <a:lstStyle/>
          <a:p>
            <a:pPr indent="0" marL="0">
              <a:buNone/>
            </a:pPr>
            <a:r>
              <a:rPr lang="en-US" sz="1500" dirty="0">
                <a:solidFill>
                  <a:schemeClr val="tx1"/>
                </a:solidFill>
              </a:rPr>
              <a:t>Экспорт нефти, какао, кофе, меди, золота; зависимость от мировых цен</a:t>
            </a:r>
            <a:endParaRPr lang="en-US" sz="1500" dirty="0"/>
          </a:p>
        </p:txBody>
      </p:sp>
      <p:sp>
        <p:nvSpPr>
          <p:cNvPr id="9" name="card-2"/>
          <p:cNvSpPr/>
          <p:nvPr/>
        </p:nvSpPr>
        <p:spPr>
          <a:xfrm>
            <a:off x="3291840" y="1508760"/>
            <a:ext cx="2560320" cy="3063240"/>
          </a:xfrm>
          <a:prstGeom prst="roundRect">
            <a:avLst>
              <a:gd name="adj" fmla="val 2857"/>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10" name="icon-circle"/>
          <p:cNvSpPr/>
          <p:nvPr/>
        </p:nvSpPr>
        <p:spPr>
          <a:xfrm>
            <a:off x="3474720" y="1691640"/>
            <a:ext cx="594360" cy="594360"/>
          </a:xfrm>
          <a:prstGeom prst="ellipse">
            <a:avLst/>
          </a:prstGeom>
          <a:solidFill>
            <a:schemeClr val="accent1"/>
          </a:solidFill>
          <a:ln/>
        </p:spPr>
      </p:sp>
      <p:pic>
        <p:nvPicPr>
          <p:cNvPr id="11" name="icon-FaCoins" descr="preencoded.png">    </p:cNvPr>
          <p:cNvPicPr>
            <a:picLocks noChangeAspect="1"/>
          </p:cNvPicPr>
          <p:nvPr/>
        </p:nvPicPr>
        <p:blipFill>
          <a:blip r:embed="rId2"/>
          <a:stretch>
            <a:fillRect/>
          </a:stretch>
        </p:blipFill>
        <p:spPr>
          <a:xfrm>
            <a:off x="3605479" y="1822399"/>
            <a:ext cx="332842" cy="332842"/>
          </a:xfrm>
          <a:prstGeom prst="rect">
            <a:avLst/>
          </a:prstGeom>
        </p:spPr>
      </p:pic>
      <p:sp>
        <p:nvSpPr>
          <p:cNvPr id="12" name="Text 8"/>
          <p:cNvSpPr txBox="1"/>
          <p:nvPr/>
        </p:nvSpPr>
        <p:spPr>
          <a:xfrm>
            <a:off x="3474720" y="2423160"/>
            <a:ext cx="2194560" cy="73152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Внешний долг</a:t>
            </a:r>
            <a:endParaRPr lang="en-US" sz="1700" dirty="0"/>
          </a:p>
        </p:txBody>
      </p:sp>
      <p:sp>
        <p:nvSpPr>
          <p:cNvPr id="13" name="Text 9"/>
          <p:cNvSpPr txBox="1"/>
          <p:nvPr/>
        </p:nvSpPr>
        <p:spPr>
          <a:xfrm>
            <a:off x="3474720" y="3200400"/>
            <a:ext cx="2194560" cy="1280160"/>
          </a:xfrm>
          <a:prstGeom prst="rect">
            <a:avLst/>
          </a:prstGeom>
          <a:noFill/>
          <a:ln/>
        </p:spPr>
        <p:txBody>
          <a:bodyPr wrap="square" lIns="0" tIns="0" rIns="0" bIns="0" rtlCol="0" anchor="t"/>
          <a:lstStyle/>
          <a:p>
            <a:pPr indent="0" marL="0">
              <a:buNone/>
            </a:pPr>
            <a:r>
              <a:rPr lang="en-US" sz="1500" dirty="0">
                <a:solidFill>
                  <a:schemeClr val="tx1"/>
                </a:solidFill>
              </a:rPr>
              <a:t>Выплаты по займам вместо инвестиций в образование, медицину и инфраструктуру</a:t>
            </a:r>
            <a:endParaRPr lang="en-US" sz="1500" dirty="0"/>
          </a:p>
        </p:txBody>
      </p:sp>
      <p:sp>
        <p:nvSpPr>
          <p:cNvPr id="14" name="card-3"/>
          <p:cNvSpPr/>
          <p:nvPr/>
        </p:nvSpPr>
        <p:spPr>
          <a:xfrm>
            <a:off x="6126480" y="1508760"/>
            <a:ext cx="2560320" cy="3063240"/>
          </a:xfrm>
          <a:prstGeom prst="roundRect">
            <a:avLst>
              <a:gd name="adj" fmla="val 2857"/>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15" name="icon-circle"/>
          <p:cNvSpPr/>
          <p:nvPr/>
        </p:nvSpPr>
        <p:spPr>
          <a:xfrm>
            <a:off x="6309360" y="1691640"/>
            <a:ext cx="594360" cy="594360"/>
          </a:xfrm>
          <a:prstGeom prst="ellipse">
            <a:avLst/>
          </a:prstGeom>
          <a:solidFill>
            <a:schemeClr val="accent1"/>
          </a:solidFill>
          <a:ln/>
        </p:spPr>
      </p:sp>
      <p:pic>
        <p:nvPicPr>
          <p:cNvPr id="16" name="icon-FaIndustry" descr="preencoded.png">    </p:cNvPr>
          <p:cNvPicPr>
            <a:picLocks noChangeAspect="1"/>
          </p:cNvPicPr>
          <p:nvPr/>
        </p:nvPicPr>
        <p:blipFill>
          <a:blip r:embed="rId3"/>
          <a:stretch>
            <a:fillRect/>
          </a:stretch>
        </p:blipFill>
        <p:spPr>
          <a:xfrm>
            <a:off x="6440119" y="1822399"/>
            <a:ext cx="332842" cy="332842"/>
          </a:xfrm>
          <a:prstGeom prst="rect">
            <a:avLst/>
          </a:prstGeom>
        </p:spPr>
      </p:pic>
      <p:sp>
        <p:nvSpPr>
          <p:cNvPr id="17" name="Text 12"/>
          <p:cNvSpPr txBox="1"/>
          <p:nvPr/>
        </p:nvSpPr>
        <p:spPr>
          <a:xfrm>
            <a:off x="6309360" y="2423160"/>
            <a:ext cx="2194560" cy="73152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Слабая индустрия</a:t>
            </a:r>
            <a:endParaRPr lang="en-US" sz="1700" dirty="0"/>
          </a:p>
        </p:txBody>
      </p:sp>
      <p:sp>
        <p:nvSpPr>
          <p:cNvPr id="18" name="Text 13"/>
          <p:cNvSpPr txBox="1"/>
          <p:nvPr/>
        </p:nvSpPr>
        <p:spPr>
          <a:xfrm>
            <a:off x="6309360" y="3200400"/>
            <a:ext cx="2194560" cy="1280160"/>
          </a:xfrm>
          <a:prstGeom prst="rect">
            <a:avLst/>
          </a:prstGeom>
          <a:noFill/>
          <a:ln/>
        </p:spPr>
        <p:txBody>
          <a:bodyPr wrap="square" lIns="0" tIns="0" rIns="0" bIns="0" rtlCol="0" anchor="t"/>
          <a:lstStyle/>
          <a:p>
            <a:pPr indent="0" marL="0">
              <a:buNone/>
            </a:pPr>
            <a:r>
              <a:rPr lang="en-US" sz="1500" dirty="0">
                <a:solidFill>
                  <a:schemeClr val="tx1"/>
                </a:solidFill>
              </a:rPr>
              <a:t>Недостаток технологий мешал перейти к устойчивому росту</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2"/>
                </a:solidFill>
              </a:rPr>
              <a:t>Социальные и демографические вызовы</a:t>
            </a:r>
            <a:endParaRPr lang="en-US" sz="2400" dirty="0"/>
          </a:p>
        </p:txBody>
      </p:sp>
      <p:sp>
        <p:nvSpPr>
          <p:cNvPr id="3" name="card-1"/>
          <p:cNvSpPr/>
          <p:nvPr/>
        </p:nvSpPr>
        <p:spPr>
          <a:xfrm>
            <a:off x="457200" y="1188720"/>
            <a:ext cx="1851660" cy="3383280"/>
          </a:xfrm>
          <a:prstGeom prst="roundRect">
            <a:avLst>
              <a:gd name="adj" fmla="val 3951"/>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4" name="icon-circle"/>
          <p:cNvSpPr/>
          <p:nvPr/>
        </p:nvSpPr>
        <p:spPr>
          <a:xfrm>
            <a:off x="640080" y="1371600"/>
            <a:ext cx="457200" cy="457200"/>
          </a:xfrm>
          <a:prstGeom prst="ellipse">
            <a:avLst/>
          </a:prstGeom>
          <a:solidFill>
            <a:schemeClr val="accent1"/>
          </a:solidFill>
          <a:ln/>
        </p:spPr>
      </p:sp>
      <p:pic>
        <p:nvPicPr>
          <p:cNvPr id="5" name="icon-FaHandHoldingHeart"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6" name="Text 3"/>
          <p:cNvSpPr txBox="1"/>
          <p:nvPr/>
        </p:nvSpPr>
        <p:spPr>
          <a:xfrm>
            <a:off x="640080" y="1965960"/>
            <a:ext cx="1485900" cy="731520"/>
          </a:xfrm>
          <a:prstGeom prst="rect">
            <a:avLst/>
          </a:prstGeom>
          <a:noFill/>
          <a:ln/>
        </p:spPr>
        <p:txBody>
          <a:bodyPr wrap="square" lIns="0" tIns="0" rIns="0" bIns="0" rtlCol="0" anchor="t"/>
          <a:lstStyle/>
          <a:p>
            <a:pPr indent="0" marL="0">
              <a:buNone/>
            </a:pPr>
            <a:r>
              <a:rPr lang="en-US" sz="1300" b="1" dirty="0">
                <a:solidFill>
                  <a:schemeClr val="tx2"/>
                </a:solidFill>
                <a:latin typeface="+mj-lt" pitchFamily="34" charset="0"/>
                <a:ea typeface="+mj-lt" pitchFamily="34" charset="-122"/>
                <a:cs typeface="+mj-lt" pitchFamily="34" charset="-120"/>
              </a:rPr>
              <a:t>Бедность</a:t>
            </a:r>
            <a:endParaRPr lang="en-US" sz="1300" dirty="0"/>
          </a:p>
        </p:txBody>
      </p:sp>
      <p:sp>
        <p:nvSpPr>
          <p:cNvPr id="7" name="Text 4"/>
          <p:cNvSpPr txBox="1"/>
          <p:nvPr/>
        </p:nvSpPr>
        <p:spPr>
          <a:xfrm>
            <a:off x="640080" y="2743200"/>
            <a:ext cx="1485900" cy="1737360"/>
          </a:xfrm>
          <a:prstGeom prst="rect">
            <a:avLst/>
          </a:prstGeom>
          <a:noFill/>
          <a:ln/>
        </p:spPr>
        <p:txBody>
          <a:bodyPr wrap="square" lIns="0" tIns="0" rIns="0" bIns="0" rtlCol="0" anchor="t"/>
          <a:lstStyle/>
          <a:p>
            <a:pPr indent="0" marL="0">
              <a:buNone/>
            </a:pPr>
            <a:r>
              <a:rPr lang="en-US" sz="1300" dirty="0">
                <a:solidFill>
                  <a:schemeClr val="tx1"/>
                </a:solidFill>
              </a:rPr>
              <a:t>Миллионы людей за чертой бедности при богатых ресурсах</a:t>
            </a:r>
            <a:endParaRPr lang="en-US" sz="1300" dirty="0"/>
          </a:p>
        </p:txBody>
      </p:sp>
      <p:sp>
        <p:nvSpPr>
          <p:cNvPr id="8" name="card-2"/>
          <p:cNvSpPr/>
          <p:nvPr/>
        </p:nvSpPr>
        <p:spPr>
          <a:xfrm>
            <a:off x="2583180" y="1188720"/>
            <a:ext cx="1851660" cy="3383280"/>
          </a:xfrm>
          <a:prstGeom prst="roundRect">
            <a:avLst>
              <a:gd name="adj" fmla="val 3951"/>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9" name="icon-circle"/>
          <p:cNvSpPr/>
          <p:nvPr/>
        </p:nvSpPr>
        <p:spPr>
          <a:xfrm>
            <a:off x="2766060" y="1371600"/>
            <a:ext cx="457200" cy="457200"/>
          </a:xfrm>
          <a:prstGeom prst="ellipse">
            <a:avLst/>
          </a:prstGeom>
          <a:solidFill>
            <a:schemeClr val="accent1"/>
          </a:solidFill>
          <a:ln/>
        </p:spPr>
      </p:sp>
      <p:pic>
        <p:nvPicPr>
          <p:cNvPr id="10" name="icon-FaUsers" descr="preencoded.png">    </p:cNvPr>
          <p:cNvPicPr>
            <a:picLocks noChangeAspect="1"/>
          </p:cNvPicPr>
          <p:nvPr/>
        </p:nvPicPr>
        <p:blipFill>
          <a:blip r:embed="rId2"/>
          <a:stretch>
            <a:fillRect/>
          </a:stretch>
        </p:blipFill>
        <p:spPr>
          <a:xfrm>
            <a:off x="2866644" y="1472184"/>
            <a:ext cx="256032" cy="256032"/>
          </a:xfrm>
          <a:prstGeom prst="rect">
            <a:avLst/>
          </a:prstGeom>
        </p:spPr>
      </p:pic>
      <p:sp>
        <p:nvSpPr>
          <p:cNvPr id="11" name="Text 7"/>
          <p:cNvSpPr txBox="1"/>
          <p:nvPr/>
        </p:nvSpPr>
        <p:spPr>
          <a:xfrm>
            <a:off x="2766060" y="1965960"/>
            <a:ext cx="1485900" cy="731520"/>
          </a:xfrm>
          <a:prstGeom prst="rect">
            <a:avLst/>
          </a:prstGeom>
          <a:noFill/>
          <a:ln/>
        </p:spPr>
        <p:txBody>
          <a:bodyPr wrap="square" lIns="0" tIns="0" rIns="0" bIns="0" rtlCol="0" anchor="t"/>
          <a:lstStyle/>
          <a:p>
            <a:pPr indent="0" marL="0">
              <a:buNone/>
            </a:pPr>
            <a:r>
              <a:rPr lang="en-US" sz="1300" b="1" dirty="0">
                <a:solidFill>
                  <a:schemeClr val="tx2"/>
                </a:solidFill>
                <a:latin typeface="+mj-lt" pitchFamily="34" charset="0"/>
                <a:ea typeface="+mj-lt" pitchFamily="34" charset="-122"/>
                <a:cs typeface="+mj-lt" pitchFamily="34" charset="-120"/>
              </a:rPr>
              <a:t>Рост населения</a:t>
            </a:r>
            <a:endParaRPr lang="en-US" sz="1300" dirty="0"/>
          </a:p>
        </p:txBody>
      </p:sp>
      <p:sp>
        <p:nvSpPr>
          <p:cNvPr id="12" name="Text 8"/>
          <p:cNvSpPr txBox="1"/>
          <p:nvPr/>
        </p:nvSpPr>
        <p:spPr>
          <a:xfrm>
            <a:off x="2766060" y="2743200"/>
            <a:ext cx="1485900" cy="1737360"/>
          </a:xfrm>
          <a:prstGeom prst="rect">
            <a:avLst/>
          </a:prstGeom>
          <a:noFill/>
          <a:ln/>
        </p:spPr>
        <p:txBody>
          <a:bodyPr wrap="square" lIns="0" tIns="0" rIns="0" bIns="0" rtlCol="0" anchor="t"/>
          <a:lstStyle/>
          <a:p>
            <a:pPr indent="0" marL="0">
              <a:buNone/>
            </a:pPr>
            <a:r>
              <a:rPr lang="en-US" sz="1300" dirty="0">
                <a:solidFill>
                  <a:schemeClr val="tx1"/>
                </a:solidFill>
              </a:rPr>
              <a:t>Самые высокие темпы на планете — нагрузка на школы, медицину, рынок труда</a:t>
            </a:r>
            <a:endParaRPr lang="en-US" sz="1300" dirty="0"/>
          </a:p>
        </p:txBody>
      </p:sp>
      <p:sp>
        <p:nvSpPr>
          <p:cNvPr id="13" name="card-3"/>
          <p:cNvSpPr/>
          <p:nvPr/>
        </p:nvSpPr>
        <p:spPr>
          <a:xfrm>
            <a:off x="4709160" y="1188720"/>
            <a:ext cx="1851660" cy="3383280"/>
          </a:xfrm>
          <a:prstGeom prst="roundRect">
            <a:avLst>
              <a:gd name="adj" fmla="val 3951"/>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14" name="icon-circle"/>
          <p:cNvSpPr/>
          <p:nvPr/>
        </p:nvSpPr>
        <p:spPr>
          <a:xfrm>
            <a:off x="4892040" y="1371600"/>
            <a:ext cx="457200" cy="457200"/>
          </a:xfrm>
          <a:prstGeom prst="ellipse">
            <a:avLst/>
          </a:prstGeom>
          <a:solidFill>
            <a:schemeClr val="accent1"/>
          </a:solidFill>
          <a:ln/>
        </p:spPr>
      </p:sp>
      <p:pic>
        <p:nvPicPr>
          <p:cNvPr id="15" name="icon-FaCity" descr="preencoded.png">    </p:cNvPr>
          <p:cNvPicPr>
            <a:picLocks noChangeAspect="1"/>
          </p:cNvPicPr>
          <p:nvPr/>
        </p:nvPicPr>
        <p:blipFill>
          <a:blip r:embed="rId3"/>
          <a:stretch>
            <a:fillRect/>
          </a:stretch>
        </p:blipFill>
        <p:spPr>
          <a:xfrm>
            <a:off x="4992624" y="1472184"/>
            <a:ext cx="256032" cy="256032"/>
          </a:xfrm>
          <a:prstGeom prst="rect">
            <a:avLst/>
          </a:prstGeom>
        </p:spPr>
      </p:pic>
      <p:sp>
        <p:nvSpPr>
          <p:cNvPr id="16" name="Text 11"/>
          <p:cNvSpPr txBox="1"/>
          <p:nvPr/>
        </p:nvSpPr>
        <p:spPr>
          <a:xfrm>
            <a:off x="4892040" y="1965960"/>
            <a:ext cx="1485900" cy="731520"/>
          </a:xfrm>
          <a:prstGeom prst="rect">
            <a:avLst/>
          </a:prstGeom>
          <a:noFill/>
          <a:ln/>
        </p:spPr>
        <p:txBody>
          <a:bodyPr wrap="square" lIns="0" tIns="0" rIns="0" bIns="0" rtlCol="0" anchor="t"/>
          <a:lstStyle/>
          <a:p>
            <a:pPr indent="0" marL="0">
              <a:buNone/>
            </a:pPr>
            <a:r>
              <a:rPr lang="en-US" sz="1300" b="1" dirty="0">
                <a:solidFill>
                  <a:schemeClr val="tx2"/>
                </a:solidFill>
                <a:latin typeface="+mj-lt" pitchFamily="34" charset="0"/>
                <a:ea typeface="+mj-lt" pitchFamily="34" charset="-122"/>
                <a:cs typeface="+mj-lt" pitchFamily="34" charset="-120"/>
              </a:rPr>
              <a:t>Урбанизация</a:t>
            </a:r>
            <a:endParaRPr lang="en-US" sz="1300" dirty="0"/>
          </a:p>
        </p:txBody>
      </p:sp>
      <p:sp>
        <p:nvSpPr>
          <p:cNvPr id="17" name="Text 12"/>
          <p:cNvSpPr txBox="1"/>
          <p:nvPr/>
        </p:nvSpPr>
        <p:spPr>
          <a:xfrm>
            <a:off x="4892040" y="2743200"/>
            <a:ext cx="1485900" cy="1737360"/>
          </a:xfrm>
          <a:prstGeom prst="rect">
            <a:avLst/>
          </a:prstGeom>
          <a:noFill/>
          <a:ln/>
        </p:spPr>
        <p:txBody>
          <a:bodyPr wrap="square" lIns="0" tIns="0" rIns="0" bIns="0" rtlCol="0" anchor="t"/>
          <a:lstStyle/>
          <a:p>
            <a:pPr indent="0" marL="0">
              <a:buNone/>
            </a:pPr>
            <a:r>
              <a:rPr lang="en-US" sz="1300" dirty="0">
                <a:solidFill>
                  <a:schemeClr val="tx1"/>
                </a:solidFill>
              </a:rPr>
              <a:t>Инфраструктура не успевает за ростом городов — появляются трущобы</a:t>
            </a:r>
            <a:endParaRPr lang="en-US" sz="1300" dirty="0"/>
          </a:p>
        </p:txBody>
      </p:sp>
      <p:sp>
        <p:nvSpPr>
          <p:cNvPr id="18" name="card-4"/>
          <p:cNvSpPr/>
          <p:nvPr/>
        </p:nvSpPr>
        <p:spPr>
          <a:xfrm>
            <a:off x="6835140" y="1188720"/>
            <a:ext cx="1851660" cy="3383280"/>
          </a:xfrm>
          <a:prstGeom prst="roundRect">
            <a:avLst>
              <a:gd name="adj" fmla="val 3951"/>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19" name="icon-circle"/>
          <p:cNvSpPr/>
          <p:nvPr/>
        </p:nvSpPr>
        <p:spPr>
          <a:xfrm>
            <a:off x="7018020" y="1371600"/>
            <a:ext cx="457200" cy="457200"/>
          </a:xfrm>
          <a:prstGeom prst="ellipse">
            <a:avLst/>
          </a:prstGeom>
          <a:solidFill>
            <a:schemeClr val="accent1"/>
          </a:solidFill>
          <a:ln/>
        </p:spPr>
      </p:sp>
      <p:pic>
        <p:nvPicPr>
          <p:cNvPr id="20" name="icon-FaHeartbeat" descr="preencoded.png">    </p:cNvPr>
          <p:cNvPicPr>
            <a:picLocks noChangeAspect="1"/>
          </p:cNvPicPr>
          <p:nvPr/>
        </p:nvPicPr>
        <p:blipFill>
          <a:blip r:embed="rId4"/>
          <a:stretch>
            <a:fillRect/>
          </a:stretch>
        </p:blipFill>
        <p:spPr>
          <a:xfrm>
            <a:off x="7118604" y="1472184"/>
            <a:ext cx="256032" cy="256032"/>
          </a:xfrm>
          <a:prstGeom prst="rect">
            <a:avLst/>
          </a:prstGeom>
        </p:spPr>
      </p:pic>
      <p:sp>
        <p:nvSpPr>
          <p:cNvPr id="21" name="Text 15"/>
          <p:cNvSpPr txBox="1"/>
          <p:nvPr/>
        </p:nvSpPr>
        <p:spPr>
          <a:xfrm>
            <a:off x="7018020" y="1965960"/>
            <a:ext cx="1485900" cy="731520"/>
          </a:xfrm>
          <a:prstGeom prst="rect">
            <a:avLst/>
          </a:prstGeom>
          <a:noFill/>
          <a:ln/>
        </p:spPr>
        <p:txBody>
          <a:bodyPr wrap="square" lIns="0" tIns="0" rIns="0" bIns="0" rtlCol="0" anchor="t"/>
          <a:lstStyle/>
          <a:p>
            <a:pPr indent="0" marL="0">
              <a:buNone/>
            </a:pPr>
            <a:r>
              <a:rPr lang="en-US" sz="1300" b="1" dirty="0">
                <a:solidFill>
                  <a:schemeClr val="tx2"/>
                </a:solidFill>
                <a:latin typeface="+mj-lt" pitchFamily="34" charset="0"/>
                <a:ea typeface="+mj-lt" pitchFamily="34" charset="-122"/>
                <a:cs typeface="+mj-lt" pitchFamily="34" charset="-120"/>
              </a:rPr>
              <a:t>Эпидемии</a:t>
            </a:r>
            <a:endParaRPr lang="en-US" sz="1300" dirty="0"/>
          </a:p>
        </p:txBody>
      </p:sp>
      <p:sp>
        <p:nvSpPr>
          <p:cNvPr id="22" name="Text 16"/>
          <p:cNvSpPr txBox="1"/>
          <p:nvPr/>
        </p:nvSpPr>
        <p:spPr>
          <a:xfrm>
            <a:off x="7018020" y="2743200"/>
            <a:ext cx="1485900" cy="1737360"/>
          </a:xfrm>
          <a:prstGeom prst="rect">
            <a:avLst/>
          </a:prstGeom>
          <a:noFill/>
          <a:ln/>
        </p:spPr>
        <p:txBody>
          <a:bodyPr wrap="square" lIns="0" tIns="0" rIns="0" bIns="0" rtlCol="0" anchor="t"/>
          <a:lstStyle/>
          <a:p>
            <a:pPr indent="0" marL="0">
              <a:buNone/>
            </a:pPr>
            <a:r>
              <a:rPr lang="en-US" sz="1300" dirty="0">
                <a:solidFill>
                  <a:schemeClr val="tx1"/>
                </a:solidFill>
              </a:rPr>
              <a:t>Малярия, туберкулёз, ВИЧ/СПИД; международные программы помощи</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2"/>
                </a:solidFill>
              </a:rPr>
              <a:t>Позитивные перемены на рубеже XX–XXI веков</a:t>
            </a:r>
            <a:endParaRPr lang="en-US" sz="2400" dirty="0"/>
          </a:p>
        </p:txBody>
      </p:sp>
      <p:sp>
        <p:nvSpPr>
          <p:cNvPr id="3" name="timeline-axis"/>
          <p:cNvSpPr/>
          <p:nvPr/>
        </p:nvSpPr>
        <p:spPr>
          <a:xfrm>
            <a:off x="457200" y="2103120"/>
            <a:ext cx="8229600" cy="0"/>
          </a:xfrm>
          <a:prstGeom prst="line">
            <a:avLst/>
          </a:prstGeom>
          <a:noFill/>
          <a:ln w="25400">
            <a:solidFill>
              <a:schemeClr val="accent6"/>
            </a:solidFill>
            <a:prstDash val="solid"/>
          </a:ln>
        </p:spPr>
      </p:sp>
      <p:sp>
        <p:nvSpPr>
          <p:cNvPr id="4" name="Text 2"/>
          <p:cNvSpPr txBox="1"/>
          <p:nvPr/>
        </p:nvSpPr>
        <p:spPr>
          <a:xfrm>
            <a:off x="502920" y="1234440"/>
            <a:ext cx="1965960" cy="685800"/>
          </a:xfrm>
          <a:prstGeom prst="rect">
            <a:avLst/>
          </a:prstGeom>
          <a:noFill/>
          <a:ln/>
        </p:spPr>
        <p:txBody>
          <a:bodyPr wrap="square" lIns="0" tIns="0" rIns="0" bIns="0" rtlCol="0" anchor="b"/>
          <a:lstStyle/>
          <a:p>
            <a:pPr algn="ctr" indent="0" marL="0">
              <a:buNone/>
            </a:pPr>
            <a:r>
              <a:rPr lang="en-US" sz="2000" b="1" dirty="0">
                <a:solidFill>
                  <a:schemeClr val="accent1"/>
                </a:solidFill>
                <a:latin typeface="+mj-lt" pitchFamily="34" charset="0"/>
                <a:ea typeface="+mj-lt" pitchFamily="34" charset="-122"/>
                <a:cs typeface="+mj-lt" pitchFamily="34" charset="-120"/>
              </a:rPr>
              <a:t>1963</a:t>
            </a:r>
            <a:endParaRPr lang="en-US" sz="2000" dirty="0"/>
          </a:p>
        </p:txBody>
      </p:sp>
      <p:sp>
        <p:nvSpPr>
          <p:cNvPr id="5" name="tl-dot-1"/>
          <p:cNvSpPr/>
          <p:nvPr/>
        </p:nvSpPr>
        <p:spPr>
          <a:xfrm>
            <a:off x="1367028" y="1984248"/>
            <a:ext cx="237744" cy="237744"/>
          </a:xfrm>
          <a:prstGeom prst="ellipse">
            <a:avLst/>
          </a:prstGeom>
          <a:solidFill>
            <a:schemeClr val="accent1"/>
          </a:solidFill>
          <a:ln w="25400">
            <a:solidFill>
              <a:schemeClr val="bg2"/>
            </a:solidFill>
            <a:prstDash val="solid"/>
          </a:ln>
        </p:spPr>
      </p:sp>
      <p:sp>
        <p:nvSpPr>
          <p:cNvPr id="6" name="tl-card-1"/>
          <p:cNvSpPr/>
          <p:nvPr/>
        </p:nvSpPr>
        <p:spPr>
          <a:xfrm>
            <a:off x="512064" y="2377440"/>
            <a:ext cx="1947672" cy="1920240"/>
          </a:xfrm>
          <a:prstGeom prst="roundRect">
            <a:avLst>
              <a:gd name="adj" fmla="val 3810"/>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7" name="Text 5"/>
          <p:cNvSpPr txBox="1"/>
          <p:nvPr/>
        </p:nvSpPr>
        <p:spPr>
          <a:xfrm>
            <a:off x="566928" y="2468880"/>
            <a:ext cx="1837944" cy="594360"/>
          </a:xfrm>
          <a:prstGeom prst="rect">
            <a:avLst/>
          </a:prstGeom>
          <a:noFill/>
          <a:ln/>
        </p:spPr>
        <p:txBody>
          <a:bodyPr wrap="square" lIns="0" tIns="0" rIns="0" bIns="0" rtlCol="0" anchor="ctr"/>
          <a:lstStyle/>
          <a:p>
            <a:pPr algn="ctr" indent="0" marL="0">
              <a:buNone/>
            </a:pPr>
            <a:r>
              <a:rPr lang="en-US" sz="1500" b="1" dirty="0">
                <a:solidFill>
                  <a:schemeClr val="tx2"/>
                </a:solidFill>
                <a:latin typeface="+mj-lt" pitchFamily="34" charset="0"/>
                <a:ea typeface="+mj-lt" pitchFamily="34" charset="-122"/>
                <a:cs typeface="+mj-lt" pitchFamily="34" charset="-120"/>
              </a:rPr>
              <a:t>ОАЕ</a:t>
            </a:r>
            <a:endParaRPr lang="en-US" sz="1500" dirty="0"/>
          </a:p>
        </p:txBody>
      </p:sp>
      <p:sp>
        <p:nvSpPr>
          <p:cNvPr id="8" name="Text 6"/>
          <p:cNvSpPr txBox="1"/>
          <p:nvPr/>
        </p:nvSpPr>
        <p:spPr>
          <a:xfrm>
            <a:off x="566928" y="3108960"/>
            <a:ext cx="1837944" cy="1143000"/>
          </a:xfrm>
          <a:prstGeom prst="rect">
            <a:avLst/>
          </a:prstGeom>
          <a:noFill/>
          <a:ln/>
        </p:spPr>
        <p:txBody>
          <a:bodyPr wrap="square" lIns="0" tIns="0" rIns="0" bIns="0" rtlCol="0" anchor="t"/>
          <a:lstStyle/>
          <a:p>
            <a:pPr algn="ctr" indent="0" marL="0">
              <a:buNone/>
            </a:pPr>
            <a:r>
              <a:rPr lang="en-US" sz="1400" dirty="0">
                <a:solidFill>
                  <a:schemeClr val="tx1"/>
                </a:solidFill>
              </a:rPr>
              <a:t>Создана Организация африканского единства</a:t>
            </a:r>
            <a:endParaRPr lang="en-US" sz="1400" dirty="0"/>
          </a:p>
        </p:txBody>
      </p:sp>
      <p:sp>
        <p:nvSpPr>
          <p:cNvPr id="9" name="Text 7"/>
          <p:cNvSpPr txBox="1"/>
          <p:nvPr/>
        </p:nvSpPr>
        <p:spPr>
          <a:xfrm>
            <a:off x="2560320" y="1234440"/>
            <a:ext cx="1965960" cy="685800"/>
          </a:xfrm>
          <a:prstGeom prst="rect">
            <a:avLst/>
          </a:prstGeom>
          <a:noFill/>
          <a:ln/>
        </p:spPr>
        <p:txBody>
          <a:bodyPr wrap="square" lIns="0" tIns="0" rIns="0" bIns="0" rtlCol="0" anchor="b"/>
          <a:lstStyle/>
          <a:p>
            <a:pPr algn="ctr" indent="0" marL="0">
              <a:buNone/>
            </a:pPr>
            <a:r>
              <a:rPr lang="en-US" sz="2000" b="1" dirty="0">
                <a:solidFill>
                  <a:schemeClr val="accent1"/>
                </a:solidFill>
                <a:latin typeface="+mj-lt" pitchFamily="34" charset="0"/>
                <a:ea typeface="+mj-lt" pitchFamily="34" charset="-122"/>
                <a:cs typeface="+mj-lt" pitchFamily="34" charset="-120"/>
              </a:rPr>
              <a:t>1990-е</a:t>
            </a:r>
            <a:endParaRPr lang="en-US" sz="2000" dirty="0"/>
          </a:p>
        </p:txBody>
      </p:sp>
      <p:sp>
        <p:nvSpPr>
          <p:cNvPr id="10" name="tl-dot-2"/>
          <p:cNvSpPr/>
          <p:nvPr/>
        </p:nvSpPr>
        <p:spPr>
          <a:xfrm>
            <a:off x="3424428" y="1984248"/>
            <a:ext cx="237744" cy="237744"/>
          </a:xfrm>
          <a:prstGeom prst="ellipse">
            <a:avLst/>
          </a:prstGeom>
          <a:solidFill>
            <a:schemeClr val="accent1"/>
          </a:solidFill>
          <a:ln w="25400">
            <a:solidFill>
              <a:schemeClr val="bg2"/>
            </a:solidFill>
            <a:prstDash val="solid"/>
          </a:ln>
        </p:spPr>
      </p:sp>
      <p:sp>
        <p:nvSpPr>
          <p:cNvPr id="11" name="tl-card-2"/>
          <p:cNvSpPr/>
          <p:nvPr/>
        </p:nvSpPr>
        <p:spPr>
          <a:xfrm>
            <a:off x="2569464" y="2377440"/>
            <a:ext cx="1947672" cy="1920240"/>
          </a:xfrm>
          <a:prstGeom prst="roundRect">
            <a:avLst>
              <a:gd name="adj" fmla="val 3810"/>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12" name="Text 10"/>
          <p:cNvSpPr txBox="1"/>
          <p:nvPr/>
        </p:nvSpPr>
        <p:spPr>
          <a:xfrm>
            <a:off x="2624328" y="2468880"/>
            <a:ext cx="1837944" cy="594360"/>
          </a:xfrm>
          <a:prstGeom prst="rect">
            <a:avLst/>
          </a:prstGeom>
          <a:noFill/>
          <a:ln/>
        </p:spPr>
        <p:txBody>
          <a:bodyPr wrap="square" lIns="0" tIns="0" rIns="0" bIns="0" rtlCol="0" anchor="ctr"/>
          <a:lstStyle/>
          <a:p>
            <a:pPr algn="ctr" indent="0" marL="0">
              <a:buNone/>
            </a:pPr>
            <a:r>
              <a:rPr lang="en-US" sz="1500" b="1" dirty="0">
                <a:solidFill>
                  <a:schemeClr val="tx2"/>
                </a:solidFill>
                <a:latin typeface="+mj-lt" pitchFamily="34" charset="0"/>
                <a:ea typeface="+mj-lt" pitchFamily="34" charset="-122"/>
                <a:cs typeface="+mj-lt" pitchFamily="34" charset="-120"/>
              </a:rPr>
              <a:t>Реформы</a:t>
            </a:r>
            <a:endParaRPr lang="en-US" sz="1500" dirty="0"/>
          </a:p>
        </p:txBody>
      </p:sp>
      <p:sp>
        <p:nvSpPr>
          <p:cNvPr id="13" name="Text 11"/>
          <p:cNvSpPr txBox="1"/>
          <p:nvPr/>
        </p:nvSpPr>
        <p:spPr>
          <a:xfrm>
            <a:off x="2624328" y="3108960"/>
            <a:ext cx="1837944" cy="1143000"/>
          </a:xfrm>
          <a:prstGeom prst="rect">
            <a:avLst/>
          </a:prstGeom>
          <a:noFill/>
          <a:ln/>
        </p:spPr>
        <p:txBody>
          <a:bodyPr wrap="square" lIns="0" tIns="0" rIns="0" bIns="0" rtlCol="0" anchor="t"/>
          <a:lstStyle/>
          <a:p>
            <a:pPr algn="ctr" indent="0" marL="0">
              <a:buNone/>
            </a:pPr>
            <a:r>
              <a:rPr lang="en-US" sz="1400" dirty="0">
                <a:solidFill>
                  <a:schemeClr val="tx1"/>
                </a:solidFill>
              </a:rPr>
              <a:t>Экономические преобразования, привлечение иностранных инвестиций</a:t>
            </a:r>
            <a:endParaRPr lang="en-US" sz="1400" dirty="0"/>
          </a:p>
        </p:txBody>
      </p:sp>
      <p:sp>
        <p:nvSpPr>
          <p:cNvPr id="14" name="Text 12"/>
          <p:cNvSpPr txBox="1"/>
          <p:nvPr/>
        </p:nvSpPr>
        <p:spPr>
          <a:xfrm>
            <a:off x="4617720" y="1234440"/>
            <a:ext cx="1965960" cy="685800"/>
          </a:xfrm>
          <a:prstGeom prst="rect">
            <a:avLst/>
          </a:prstGeom>
          <a:noFill/>
          <a:ln/>
        </p:spPr>
        <p:txBody>
          <a:bodyPr wrap="square" lIns="0" tIns="0" rIns="0" bIns="0" rtlCol="0" anchor="b"/>
          <a:lstStyle/>
          <a:p>
            <a:pPr algn="ctr" indent="0" marL="0">
              <a:buNone/>
            </a:pPr>
            <a:r>
              <a:rPr lang="en-US" sz="2000" b="1" dirty="0">
                <a:solidFill>
                  <a:schemeClr val="accent1"/>
                </a:solidFill>
                <a:latin typeface="+mj-lt" pitchFamily="34" charset="0"/>
                <a:ea typeface="+mj-lt" pitchFamily="34" charset="-122"/>
                <a:cs typeface="+mj-lt" pitchFamily="34" charset="-120"/>
              </a:rPr>
              <a:t>2002</a:t>
            </a:r>
            <a:endParaRPr lang="en-US" sz="2000" dirty="0"/>
          </a:p>
        </p:txBody>
      </p:sp>
      <p:sp>
        <p:nvSpPr>
          <p:cNvPr id="15" name="tl-dot-3"/>
          <p:cNvSpPr/>
          <p:nvPr/>
        </p:nvSpPr>
        <p:spPr>
          <a:xfrm>
            <a:off x="5481828" y="1984248"/>
            <a:ext cx="237744" cy="237744"/>
          </a:xfrm>
          <a:prstGeom prst="ellipse">
            <a:avLst/>
          </a:prstGeom>
          <a:solidFill>
            <a:schemeClr val="accent1"/>
          </a:solidFill>
          <a:ln w="25400">
            <a:solidFill>
              <a:schemeClr val="bg2"/>
            </a:solidFill>
            <a:prstDash val="solid"/>
          </a:ln>
        </p:spPr>
      </p:sp>
      <p:sp>
        <p:nvSpPr>
          <p:cNvPr id="16" name="tl-card-3"/>
          <p:cNvSpPr/>
          <p:nvPr/>
        </p:nvSpPr>
        <p:spPr>
          <a:xfrm>
            <a:off x="4626864" y="2377440"/>
            <a:ext cx="1947672" cy="1920240"/>
          </a:xfrm>
          <a:prstGeom prst="roundRect">
            <a:avLst>
              <a:gd name="adj" fmla="val 3810"/>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17" name="Text 15"/>
          <p:cNvSpPr txBox="1"/>
          <p:nvPr/>
        </p:nvSpPr>
        <p:spPr>
          <a:xfrm>
            <a:off x="4681728" y="2468880"/>
            <a:ext cx="1837944" cy="594360"/>
          </a:xfrm>
          <a:prstGeom prst="rect">
            <a:avLst/>
          </a:prstGeom>
          <a:noFill/>
          <a:ln/>
        </p:spPr>
        <p:txBody>
          <a:bodyPr wrap="square" lIns="0" tIns="0" rIns="0" bIns="0" rtlCol="0" anchor="ctr"/>
          <a:lstStyle/>
          <a:p>
            <a:pPr algn="ctr" indent="0" marL="0">
              <a:buNone/>
            </a:pPr>
            <a:r>
              <a:rPr lang="en-US" sz="1500" b="1" dirty="0">
                <a:solidFill>
                  <a:schemeClr val="tx2"/>
                </a:solidFill>
                <a:latin typeface="+mj-lt" pitchFamily="34" charset="0"/>
                <a:ea typeface="+mj-lt" pitchFamily="34" charset="-122"/>
                <a:cs typeface="+mj-lt" pitchFamily="34" charset="-120"/>
              </a:rPr>
              <a:t>Африканский союз</a:t>
            </a:r>
            <a:endParaRPr lang="en-US" sz="1500" dirty="0"/>
          </a:p>
        </p:txBody>
      </p:sp>
      <p:sp>
        <p:nvSpPr>
          <p:cNvPr id="18" name="Text 16"/>
          <p:cNvSpPr txBox="1"/>
          <p:nvPr/>
        </p:nvSpPr>
        <p:spPr>
          <a:xfrm>
            <a:off x="4681728" y="3108960"/>
            <a:ext cx="1837944" cy="1143000"/>
          </a:xfrm>
          <a:prstGeom prst="rect">
            <a:avLst/>
          </a:prstGeom>
          <a:noFill/>
          <a:ln/>
        </p:spPr>
        <p:txBody>
          <a:bodyPr wrap="square" lIns="0" tIns="0" rIns="0" bIns="0" rtlCol="0" anchor="t"/>
          <a:lstStyle/>
          <a:p>
            <a:pPr algn="ctr" indent="0" marL="0">
              <a:buNone/>
            </a:pPr>
            <a:r>
              <a:rPr lang="en-US" sz="1400" dirty="0">
                <a:solidFill>
                  <a:schemeClr val="tx1"/>
                </a:solidFill>
              </a:rPr>
              <a:t>Новый уровень регионального сотрудничества</a:t>
            </a:r>
            <a:endParaRPr lang="en-US" sz="1400" dirty="0"/>
          </a:p>
        </p:txBody>
      </p:sp>
      <p:sp>
        <p:nvSpPr>
          <p:cNvPr id="19" name="Text 17"/>
          <p:cNvSpPr txBox="1"/>
          <p:nvPr/>
        </p:nvSpPr>
        <p:spPr>
          <a:xfrm>
            <a:off x="6675120" y="1234440"/>
            <a:ext cx="1965960" cy="685800"/>
          </a:xfrm>
          <a:prstGeom prst="rect">
            <a:avLst/>
          </a:prstGeom>
          <a:noFill/>
          <a:ln/>
        </p:spPr>
        <p:txBody>
          <a:bodyPr wrap="square" lIns="0" tIns="0" rIns="0" bIns="0" rtlCol="0" anchor="b"/>
          <a:lstStyle/>
          <a:p>
            <a:pPr algn="ctr" indent="0" marL="0">
              <a:buNone/>
            </a:pPr>
            <a:r>
              <a:rPr lang="en-US" sz="2000" b="1" dirty="0">
                <a:solidFill>
                  <a:schemeClr val="accent1"/>
                </a:solidFill>
                <a:latin typeface="+mj-lt" pitchFamily="34" charset="0"/>
                <a:ea typeface="+mj-lt" pitchFamily="34" charset="-122"/>
                <a:cs typeface="+mj-lt" pitchFamily="34" charset="-120"/>
              </a:rPr>
              <a:t>XXI век</a:t>
            </a:r>
            <a:endParaRPr lang="en-US" sz="2000" dirty="0"/>
          </a:p>
        </p:txBody>
      </p:sp>
      <p:sp>
        <p:nvSpPr>
          <p:cNvPr id="20" name="tl-dot-4"/>
          <p:cNvSpPr/>
          <p:nvPr/>
        </p:nvSpPr>
        <p:spPr>
          <a:xfrm>
            <a:off x="7539228" y="1984248"/>
            <a:ext cx="237744" cy="237744"/>
          </a:xfrm>
          <a:prstGeom prst="ellipse">
            <a:avLst/>
          </a:prstGeom>
          <a:solidFill>
            <a:schemeClr val="accent1"/>
          </a:solidFill>
          <a:ln w="25400">
            <a:solidFill>
              <a:schemeClr val="bg2"/>
            </a:solidFill>
            <a:prstDash val="solid"/>
          </a:ln>
        </p:spPr>
      </p:sp>
      <p:sp>
        <p:nvSpPr>
          <p:cNvPr id="21" name="tl-card-4"/>
          <p:cNvSpPr/>
          <p:nvPr/>
        </p:nvSpPr>
        <p:spPr>
          <a:xfrm>
            <a:off x="6684264" y="2377440"/>
            <a:ext cx="1947672" cy="1920240"/>
          </a:xfrm>
          <a:prstGeom prst="roundRect">
            <a:avLst>
              <a:gd name="adj" fmla="val 3810"/>
            </a:avLst>
          </a:prstGeom>
          <a:solidFill>
            <a:schemeClr val="bg1">
              <a:alpha val="70000"/>
            </a:schemeClr>
          </a:solidFill>
          <a:ln w="9525">
            <a:solidFill>
              <a:schemeClr val="accent6"/>
            </a:solidFill>
            <a:prstDash val="solid"/>
          </a:ln>
          <a:effectLst>
            <a:outerShdw sx="100000" sy="100000" kx="0" ky="0" algn="bl" rotWithShape="0" blurRad="50800" dist="19050" dir="5400000">
              <a:srgbClr val="5A3D24">
                <a:alpha val="18000"/>
              </a:srgbClr>
            </a:outerShdw>
          </a:effectLst>
        </p:spPr>
      </p:sp>
      <p:sp>
        <p:nvSpPr>
          <p:cNvPr id="22" name="Text 20"/>
          <p:cNvSpPr txBox="1"/>
          <p:nvPr/>
        </p:nvSpPr>
        <p:spPr>
          <a:xfrm>
            <a:off x="6739128" y="2468880"/>
            <a:ext cx="1837944" cy="594360"/>
          </a:xfrm>
          <a:prstGeom prst="rect">
            <a:avLst/>
          </a:prstGeom>
          <a:noFill/>
          <a:ln/>
        </p:spPr>
        <p:txBody>
          <a:bodyPr wrap="square" lIns="0" tIns="0" rIns="0" bIns="0" rtlCol="0" anchor="ctr"/>
          <a:lstStyle/>
          <a:p>
            <a:pPr algn="ctr" indent="0" marL="0">
              <a:buNone/>
            </a:pPr>
            <a:r>
              <a:rPr lang="en-US" sz="1500" b="1" dirty="0">
                <a:solidFill>
                  <a:schemeClr val="tx2"/>
                </a:solidFill>
                <a:latin typeface="+mj-lt" pitchFamily="34" charset="0"/>
                <a:ea typeface="+mj-lt" pitchFamily="34" charset="-122"/>
                <a:cs typeface="+mj-lt" pitchFamily="34" charset="-120"/>
              </a:rPr>
              <a:t>Модернизация</a:t>
            </a:r>
            <a:endParaRPr lang="en-US" sz="1500" dirty="0"/>
          </a:p>
        </p:txBody>
      </p:sp>
      <p:sp>
        <p:nvSpPr>
          <p:cNvPr id="23" name="Text 21"/>
          <p:cNvSpPr txBox="1"/>
          <p:nvPr/>
        </p:nvSpPr>
        <p:spPr>
          <a:xfrm>
            <a:off x="6739128" y="3108960"/>
            <a:ext cx="1837944" cy="1143000"/>
          </a:xfrm>
          <a:prstGeom prst="rect">
            <a:avLst/>
          </a:prstGeom>
          <a:noFill/>
          <a:ln/>
        </p:spPr>
        <p:txBody>
          <a:bodyPr wrap="square" lIns="0" tIns="0" rIns="0" bIns="0" rtlCol="0" anchor="t"/>
          <a:lstStyle/>
          <a:p>
            <a:pPr algn="ctr" indent="0" marL="0">
              <a:buNone/>
            </a:pPr>
            <a:r>
              <a:rPr lang="en-US" sz="1400" dirty="0">
                <a:solidFill>
                  <a:schemeClr val="tx1"/>
                </a:solidFill>
              </a:rPr>
              <a:t>Развитие промышленности и услуг, активная роль в мировой политике</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2800" b="1" dirty="0">
                <a:solidFill>
                  <a:schemeClr val="bg2"/>
                </a:solidFill>
              </a:rPr>
              <a:t>Выводы</a:t>
            </a:r>
            <a:endParaRPr lang="en-US" sz="2800" dirty="0"/>
          </a:p>
        </p:txBody>
      </p:sp>
      <p:sp>
        <p:nvSpPr>
          <p:cNvPr id="3" name="takeaway-1"/>
          <p:cNvSpPr/>
          <p:nvPr/>
        </p:nvSpPr>
        <p:spPr>
          <a:xfrm>
            <a:off x="457200" y="1325880"/>
            <a:ext cx="2560320" cy="3108960"/>
          </a:xfrm>
          <a:prstGeom prst="roundRect">
            <a:avLst>
              <a:gd name="adj" fmla="val 3571"/>
            </a:avLst>
          </a:prstGeom>
          <a:solidFill>
            <a:schemeClr val="tx1">
              <a:alpha val="65000"/>
            </a:schemeClr>
          </a:solidFill>
          <a:ln w="12700">
            <a:solidFill>
              <a:schemeClr val="accent2"/>
            </a:solidFill>
            <a:prstDash val="solid"/>
          </a:ln>
        </p:spPr>
      </p:sp>
      <p:sp>
        <p:nvSpPr>
          <p:cNvPr id="4" name="num-1"/>
          <p:cNvSpPr/>
          <p:nvPr/>
        </p:nvSpPr>
        <p:spPr>
          <a:xfrm>
            <a:off x="685800" y="1554480"/>
            <a:ext cx="548640" cy="548640"/>
          </a:xfrm>
          <a:prstGeom prst="ellipse">
            <a:avLst/>
          </a:prstGeom>
          <a:solidFill>
            <a:schemeClr val="accent2"/>
          </a:solidFill>
          <a:ln/>
        </p:spPr>
      </p:sp>
      <p:sp>
        <p:nvSpPr>
          <p:cNvPr id="5" name="Text 3"/>
          <p:cNvSpPr txBox="1"/>
          <p:nvPr/>
        </p:nvSpPr>
        <p:spPr>
          <a:xfrm>
            <a:off x="685800" y="155448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1</a:t>
            </a:r>
            <a:endParaRPr lang="en-US" sz="2000" dirty="0"/>
          </a:p>
        </p:txBody>
      </p:sp>
      <p:sp>
        <p:nvSpPr>
          <p:cNvPr id="6" name="Text 4"/>
          <p:cNvSpPr txBox="1"/>
          <p:nvPr/>
        </p:nvSpPr>
        <p:spPr>
          <a:xfrm>
            <a:off x="685800" y="2286000"/>
            <a:ext cx="2103120" cy="2011680"/>
          </a:xfrm>
          <a:prstGeom prst="rect">
            <a:avLst/>
          </a:prstGeom>
          <a:noFill/>
          <a:ln/>
        </p:spPr>
        <p:txBody>
          <a:bodyPr wrap="square" lIns="0" tIns="0" rIns="0" bIns="0" rtlCol="0" anchor="t"/>
          <a:lstStyle/>
          <a:p>
            <a:pPr indent="0" marL="0">
              <a:buNone/>
            </a:pPr>
            <a:r>
              <a:rPr lang="en-US" sz="1500" dirty="0">
                <a:solidFill>
                  <a:schemeClr val="bg2"/>
                </a:solidFill>
              </a:rPr>
              <a:t>Колониальное наследие — искусственные границы и сырьевая экономика — определило главные трудности молодых государств</a:t>
            </a:r>
            <a:endParaRPr lang="en-US" sz="1500" dirty="0"/>
          </a:p>
        </p:txBody>
      </p:sp>
      <p:sp>
        <p:nvSpPr>
          <p:cNvPr id="7" name="takeaway-2"/>
          <p:cNvSpPr/>
          <p:nvPr/>
        </p:nvSpPr>
        <p:spPr>
          <a:xfrm>
            <a:off x="3291840" y="1325880"/>
            <a:ext cx="2560320" cy="3108960"/>
          </a:xfrm>
          <a:prstGeom prst="roundRect">
            <a:avLst>
              <a:gd name="adj" fmla="val 3571"/>
            </a:avLst>
          </a:prstGeom>
          <a:solidFill>
            <a:schemeClr val="tx1">
              <a:alpha val="65000"/>
            </a:schemeClr>
          </a:solidFill>
          <a:ln w="12700">
            <a:solidFill>
              <a:schemeClr val="accent2"/>
            </a:solidFill>
            <a:prstDash val="solid"/>
          </a:ln>
        </p:spPr>
      </p:sp>
      <p:sp>
        <p:nvSpPr>
          <p:cNvPr id="8" name="num-2"/>
          <p:cNvSpPr/>
          <p:nvPr/>
        </p:nvSpPr>
        <p:spPr>
          <a:xfrm>
            <a:off x="3520440" y="1554480"/>
            <a:ext cx="548640" cy="548640"/>
          </a:xfrm>
          <a:prstGeom prst="ellipse">
            <a:avLst/>
          </a:prstGeom>
          <a:solidFill>
            <a:schemeClr val="accent2"/>
          </a:solidFill>
          <a:ln/>
        </p:spPr>
      </p:sp>
      <p:sp>
        <p:nvSpPr>
          <p:cNvPr id="9" name="Text 7"/>
          <p:cNvSpPr txBox="1"/>
          <p:nvPr/>
        </p:nvSpPr>
        <p:spPr>
          <a:xfrm>
            <a:off x="3520440" y="155448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2</a:t>
            </a:r>
            <a:endParaRPr lang="en-US" sz="2000" dirty="0"/>
          </a:p>
        </p:txBody>
      </p:sp>
      <p:sp>
        <p:nvSpPr>
          <p:cNvPr id="10" name="Text 8"/>
          <p:cNvSpPr txBox="1"/>
          <p:nvPr/>
        </p:nvSpPr>
        <p:spPr>
          <a:xfrm>
            <a:off x="3520440" y="2286000"/>
            <a:ext cx="2103120" cy="2011680"/>
          </a:xfrm>
          <a:prstGeom prst="rect">
            <a:avLst/>
          </a:prstGeom>
          <a:noFill/>
          <a:ln/>
        </p:spPr>
        <p:txBody>
          <a:bodyPr wrap="square" lIns="0" tIns="0" rIns="0" bIns="0" rtlCol="0" anchor="t"/>
          <a:lstStyle/>
          <a:p>
            <a:pPr indent="0" marL="0">
              <a:buNone/>
            </a:pPr>
            <a:r>
              <a:rPr lang="en-US" sz="1500" dirty="0">
                <a:solidFill>
                  <a:schemeClr val="bg2"/>
                </a:solidFill>
              </a:rPr>
              <a:t>Авторитаризм, военные перевороты и гражданские войны замедляли реформы и развитие</a:t>
            </a:r>
            <a:endParaRPr lang="en-US" sz="1500" dirty="0"/>
          </a:p>
        </p:txBody>
      </p:sp>
      <p:sp>
        <p:nvSpPr>
          <p:cNvPr id="11" name="takeaway-3"/>
          <p:cNvSpPr/>
          <p:nvPr/>
        </p:nvSpPr>
        <p:spPr>
          <a:xfrm>
            <a:off x="6126480" y="1325880"/>
            <a:ext cx="2560320" cy="3108960"/>
          </a:xfrm>
          <a:prstGeom prst="roundRect">
            <a:avLst>
              <a:gd name="adj" fmla="val 3571"/>
            </a:avLst>
          </a:prstGeom>
          <a:solidFill>
            <a:schemeClr val="tx1">
              <a:alpha val="65000"/>
            </a:schemeClr>
          </a:solidFill>
          <a:ln w="12700">
            <a:solidFill>
              <a:schemeClr val="accent2"/>
            </a:solidFill>
            <a:prstDash val="solid"/>
          </a:ln>
        </p:spPr>
      </p:sp>
      <p:sp>
        <p:nvSpPr>
          <p:cNvPr id="12" name="num-3"/>
          <p:cNvSpPr/>
          <p:nvPr/>
        </p:nvSpPr>
        <p:spPr>
          <a:xfrm>
            <a:off x="6355080" y="1554480"/>
            <a:ext cx="548640" cy="548640"/>
          </a:xfrm>
          <a:prstGeom prst="ellipse">
            <a:avLst/>
          </a:prstGeom>
          <a:solidFill>
            <a:schemeClr val="accent2"/>
          </a:solidFill>
          <a:ln/>
        </p:spPr>
      </p:sp>
      <p:sp>
        <p:nvSpPr>
          <p:cNvPr id="13" name="Text 11"/>
          <p:cNvSpPr txBox="1"/>
          <p:nvPr/>
        </p:nvSpPr>
        <p:spPr>
          <a:xfrm>
            <a:off x="6355080" y="155448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3</a:t>
            </a:r>
            <a:endParaRPr lang="en-US" sz="2000" dirty="0"/>
          </a:p>
        </p:txBody>
      </p:sp>
      <p:sp>
        <p:nvSpPr>
          <p:cNvPr id="14" name="Text 12"/>
          <p:cNvSpPr txBox="1"/>
          <p:nvPr/>
        </p:nvSpPr>
        <p:spPr>
          <a:xfrm>
            <a:off x="6355080" y="2286000"/>
            <a:ext cx="2103120" cy="2011680"/>
          </a:xfrm>
          <a:prstGeom prst="rect">
            <a:avLst/>
          </a:prstGeom>
          <a:noFill/>
          <a:ln/>
        </p:spPr>
        <p:txBody>
          <a:bodyPr wrap="square" lIns="0" tIns="0" rIns="0" bIns="0" rtlCol="0" anchor="t"/>
          <a:lstStyle/>
          <a:p>
            <a:pPr indent="0" marL="0">
              <a:buNone/>
            </a:pPr>
            <a:r>
              <a:rPr lang="en-US" sz="1500" dirty="0">
                <a:solidFill>
                  <a:schemeClr val="bg2"/>
                </a:solidFill>
              </a:rPr>
              <a:t>С конца XX века страны Африки модернизируются и укрепляют сотрудничество в рамках Африканского союза</a:t>
            </a:r>
            <a:endParaRPr lang="en-US" sz="1500" dirty="0"/>
          </a:p>
        </p:txBody>
      </p:sp>
    </p:spTree>
  </p:cSld>
  <p:clrMapOvr>
    <a:masterClrMapping/>
  </p:clrMapOvr>
</p:sld>
</file>

<file path=ppt/theme/theme1.xml><?xml version="1.0" encoding="utf-8"?>
<a:theme xmlns:a="http://schemas.openxmlformats.org/drawingml/2006/main" name="Пергамент">
  <a:themeElements>
    <a:clrScheme name="Пергамент">
      <a:dk1>
        <a:srgbClr val="2B1A10"/>
      </a:dk1>
      <a:lt1>
        <a:srgbClr val="FFFFFF"/>
      </a:lt1>
      <a:dk2>
        <a:srgbClr val="4A2C1A"/>
      </a:dk2>
      <a:lt2>
        <a:srgbClr val="F4EAD5"/>
      </a:lt2>
      <a:accent1>
        <a:srgbClr val="8C2F1F"/>
      </a:accent1>
      <a:accent2>
        <a:srgbClr val="C08F3A"/>
      </a:accent2>
      <a:accent3>
        <a:srgbClr val="4E6B47"/>
      </a:accent3>
      <a:accent4>
        <a:srgbClr val="2F4A5A"/>
      </a:accent4>
      <a:accent5>
        <a:srgbClr val="9A5B34"/>
      </a:accent5>
      <a:accent6>
        <a:srgbClr val="7B6852"/>
      </a:accent6>
      <a:hlink>
        <a:srgbClr val="8C2F1F"/>
      </a:hlink>
      <a:folHlink>
        <a:srgbClr val="7B6852"/>
      </a:folHlink>
    </a:clrScheme>
    <a:fontScheme name="Пергамент">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Лекция 13. Политическое развитие независимых государств Африки. Социально-экономические проблемы континента</dc:title>
  <dc:subject>PptxGenJS Presentation</dc:subject>
  <dc:creator>Лекционный курс</dc:creator>
  <cp:lastModifiedBy>Лекционный курс</cp:lastModifiedBy>
  <cp:revision>1</cp:revision>
  <dcterms:created xsi:type="dcterms:W3CDTF">2026-10-19T14:28:21Z</dcterms:created>
  <dcterms:modified xsi:type="dcterms:W3CDTF">2026-10-19T14:28:21Z</dcterms:modified>
</cp:coreProperties>
</file>