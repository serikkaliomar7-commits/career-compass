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0bddd7ba-a2d9-7e95-7330-733595154650}">
          <p14:sldIdLst>
            <p14:sldId id="256"/>
            <p14:sldId id="257"/>
          </p14:sldIdLst>
        </p14:section>
        <p14:section name="Палестинский вопрос" id="{2942cd38-fcd7-66f7-c34e-966abd48a54f}">
          <p14:sldIdLst>
            <p14:sldId id="258"/>
            <p14:sldId id="259"/>
          </p14:sldIdLst>
        </p14:section>
        <p14:section name="Создание Израиля" id="{f82534f8-cb86-e16c-9715-5d3a9a05476c}">
          <p14:sldIdLst>
            <p14:sldId id="260"/>
            <p14:sldId id="261"/>
            <p14:sldId id="262"/>
          </p14:sldIdLst>
        </p14:section>
        <p14:section name="Войны и мирный процесс" id="{3c32b3f5-c07c-2e3d-fcd3-a224c5994fe8}">
          <p14:sldIdLst>
            <p14:sldId id="263"/>
            <p14:sldId id="264"/>
          </p14:sldIdLst>
        </p14:section>
        <p14:section name="Выводы" id="{7ce9664e-3bad-4833-6486-f00b2ac6470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Арабо-израильский конфликт является одним из самых длительных и сложных международных конфликтов современности. Его истоки связаны с борьбой за территорию Палестины, которая имеет большое историческое, религиозное и политическое значение для евреев, мусульман и христиан.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Арабо-израильский конфликт является одним из самых длительных и сложных международных конфликтов современности. Его истоки связаны с борьбой за территорию Палестины, которая имеет большое историческое, религиозное и политическое значение для евреев, мусульман и христиан.
После Первой мировой войны территория Палестины перешла под управление Великобритании на основании мандата, выданного Лигой Наций. В этот период усилился процесс еврейской иммиграции в Палестину. Рост численности еврейского населения сопровождался приобретением земель и созданием новых поселений. Это вызывало недовольство арабского населения, которое опасалось утраты своих земель и политического влияния.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Особое значение имела Декларация Бальфура 1917 года, в которой британское правительство поддержало идею создания в Палестине национального очага для еврейского народа. После Второй мировой войны и трагедии Холокоста международная поддержка идеи еврейского государства значительно усилилась. Многие страны признали необходимость создания безопасного государства для евреев.
В 1947 году Генеральная Ассамблея ООН приняла план раздела Палестины на два государства — еврейское и арабское. Согласно этому плану Иерусалим должен был получить международный статус. Еврейское руководство согласилось с предложенным планом, тогда как арабские государства и палестинские арабы отвергли его, считая несправедливым.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1947 году Генеральная Ассамблея ООН приняла план раздела Палестины на два государства — еврейское и арабское. Согласно этому плану Иерусалим должен был получить международный статус. Еврейское руководство согласилось с предложенным планом, тогда как арабские государства и палестинские арабы отвергли его, считая несправедливым.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мая 1948 года лидер еврейского движения Давид Бен-Гурион провозгласил создание государства Израиль. Уже на следующий день армии Египта, Сирии, Иордании, Ливана и Ирака начали военные действия против нового государства. Так началась Первая арабо-израильская война, известная также как Война за независимость Израиля.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Несмотря на численное превосходство арабских армий, Израилю удалось сохранить независимость и расширить территорию по сравнению с планом ООН. В результате войны около 700 тысяч палестинских арабов покинули свои дома или были вынуждены переселиться в соседние страны. Для палестинцев эти события получили название «Накба» («катастрофа»). Именно тогда возникла проблема палестинских беженцев, которая остаётся нерешённой до настоящего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Следующим крупным конфликтом стал Суэцкий кризис 1956 года. Его причиной стало решение президента Египта Гамаля Абдель Насера национализировать Суэцкий канал. Великобритания, Франция и Израиль организовали военную операцию против Египта. Хотя египетская армия понесла поражение, международное давление со стороны СССР и США вынудило агрессоров прекратить военные действия и вывести войска.
В июне 1967 года произошла Шестидневная война. В условиях нарастающей напряжённости Израиль нанёс упреждающий удар по Египту, Сирии и Иордании. В течение шести дней израильская армия одержала убедительную победу и заняла Синайский полуостров, сектор Газа, Западный берег реки Иордан, Восточный Иерусалим и Голанские высоты. Территориальные изменения значительно усилили позиции Израиля, но одновременно осложнили отношения с арабским миром.
В ответ на поражение арабские страны начали подготовку к реваншу. В октябре 1973 года Египет и Сирия внезапно атаковали Израиль в день еврейского праздника Йом-Киппур. На первых этапах войны арабские армии добились определённых успехов, однако впоследствии Израиль смог перейти в контрнаступление. Война завершилась прекращением огня при посредничестве ООН. Конфликт показал, что ни одна из сторон не способна окончательно решить проблему военным путём.
Важным этапом мирного урегулирования стали Кэмп-Дэвидские соглашения 1978 года между Египтом и Израилем. Египет стал первым арабским государством, официально признавшим Израиль. В обмен Израиль вернул Египту Синайский полуостров. Это событие стало важным шагом к снижению напряжённости на Ближнем Востоке.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Особое место в истории конфликта занимает палестинская проблема. В 1964 году была создана Организация освобождения Палестины (ООП), ставшая главным представителем палестинского народа. Её лидером с конца 1960-х годов был Ясир Арафат. Палестинцы добивались создания собственного государства и возвращения беженцев на родину.
В конце XX — начале XXI века предпринимались многочисленные попытки мирного урегулирования конфликта. Были подписаны соглашения между Израилем и палестинскими представителями, однако окончательное решение так и не было найдено. Спорными остаются вопросы статуса Иерусалима, границ будущего палестинского государства, еврейских поселений и судьбы палестинских беженцев.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Арабо-израильские войны оказали огромное влияние на международные отношения. Конфликт неоднократно становился причиной международных кризисов, влиял на политику великих держав и ситуацию на мировом рынке нефти. Он остаётся одним из ключевых факторов нестабильности на Ближнем Востоке и продолжает оказывать влияние на мировую политику в XXI веке.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7607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Лекция 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ЛЕКЦИЯ 12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Создание государства Израиль. Арабо-израильские войны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Палестинский вопрос, войны 1948–1973 гг. и поиски мира</a:t>
            </a:r>
            <a:endParaRPr lang="en-US" sz="1500" dirty="0"/>
          </a:p>
        </p:txBody>
      </p:sp>
      <p:sp>
        <p:nvSpPr>
          <p:cNvPr id="5" name="motif-ring"/>
          <p:cNvSpPr/>
          <p:nvPr/>
        </p:nvSpPr>
        <p:spPr>
          <a:xfrm>
            <a:off x="6446520" y="1325880"/>
            <a:ext cx="2194560" cy="2194560"/>
          </a:xfrm>
          <a:prstGeom prst="ellipse">
            <a:avLst/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6675120" y="155448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FaMapMarkedAl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7339" y="193669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План лекции</a:t>
            </a:r>
            <a:endParaRPr lang="en-US" sz="2400" dirty="0"/>
          </a:p>
        </p:txBody>
      </p:sp>
      <p:sp>
        <p:nvSpPr>
          <p:cNvPr id="3" name="num-1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60704" y="1188720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Палестинский вопрос после Первой мировой войны</a:t>
            </a:r>
            <a:endParaRPr lang="en-US" sz="1600" dirty="0"/>
          </a:p>
        </p:txBody>
      </p:sp>
      <p:sp>
        <p:nvSpPr>
          <p:cNvPr id="6" name="num-2"/>
          <p:cNvSpPr/>
          <p:nvPr/>
        </p:nvSpPr>
        <p:spPr>
          <a:xfrm>
            <a:off x="457200" y="199339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865376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Предпосылки создания государства Израиль</a:t>
            </a:r>
            <a:endParaRPr lang="en-US" sz="1600" dirty="0"/>
          </a:p>
        </p:txBody>
      </p:sp>
      <p:sp>
        <p:nvSpPr>
          <p:cNvPr id="9" name="num-3"/>
          <p:cNvSpPr/>
          <p:nvPr/>
        </p:nvSpPr>
        <p:spPr>
          <a:xfrm>
            <a:off x="457200" y="26700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2542032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Провозглашение независимости Израиля</a:t>
            </a:r>
            <a:endParaRPr lang="en-US" sz="1600" dirty="0"/>
          </a:p>
        </p:txBody>
      </p:sp>
      <p:sp>
        <p:nvSpPr>
          <p:cNvPr id="12" name="num-4"/>
          <p:cNvSpPr/>
          <p:nvPr/>
        </p:nvSpPr>
        <p:spPr>
          <a:xfrm>
            <a:off x="457200" y="334670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" y="3218688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Первая арабо-израильская война (1948–1949 гг.)</a:t>
            </a:r>
            <a:endParaRPr lang="en-US" sz="1600" dirty="0"/>
          </a:p>
        </p:txBody>
      </p:sp>
      <p:sp>
        <p:nvSpPr>
          <p:cNvPr id="15" name="num-5"/>
          <p:cNvSpPr/>
          <p:nvPr/>
        </p:nvSpPr>
        <p:spPr>
          <a:xfrm>
            <a:off x="457200" y="40233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" y="3895344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Арабо-израильские войны и палестинская проблема</a:t>
            </a:r>
            <a:endParaRPr lang="en-US" sz="1600" dirty="0"/>
          </a:p>
        </p:txBody>
      </p:sp>
      <p:sp>
        <p:nvSpPr>
          <p:cNvPr id="18" name="range-panel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708660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-FaHourglassHal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7418" y="1558138"/>
            <a:ext cx="358445" cy="35844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30936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Хронологические рамки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2560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1917–1978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3429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от Декларации Бальфура до Кэмп-Дэвидских соглашений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Палестина под британским мандатом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Палестина имеет огромное историческое и религиозное значение для евреев, мусульман и христиан</a:t>
            </a:r>
            <a:endParaRPr lang="en-US" sz="1400" dirty="0"/>
          </a:p>
        </p:txBody>
      </p:sp>
      <p:sp>
        <p:nvSpPr>
          <p:cNvPr id="4" name="card-1"/>
          <p:cNvSpPr/>
          <p:nvPr/>
        </p:nvSpPr>
        <p:spPr>
          <a:xfrm>
            <a:off x="457200" y="150876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640080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FaLand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8223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Мандат Лиги Наций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После Первой мировой войны Палестина перешла под управление Великобритании</a:t>
            </a:r>
            <a:endParaRPr lang="en-US" sz="1500" dirty="0"/>
          </a:p>
        </p:txBody>
      </p:sp>
      <p:sp>
        <p:nvSpPr>
          <p:cNvPr id="9" name="card-2"/>
          <p:cNvSpPr/>
          <p:nvPr/>
        </p:nvSpPr>
        <p:spPr>
          <a:xfrm>
            <a:off x="3291840" y="150876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3474720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FaUser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9" y="18223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Еврейская иммиграция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Рост еврейского населения, покупка земель, создание новых поселений</a:t>
            </a:r>
            <a:endParaRPr lang="en-US" sz="1500" dirty="0"/>
          </a:p>
        </p:txBody>
      </p:sp>
      <p:sp>
        <p:nvSpPr>
          <p:cNvPr id="14" name="card-3"/>
          <p:cNvSpPr/>
          <p:nvPr/>
        </p:nvSpPr>
        <p:spPr>
          <a:xfrm>
            <a:off x="6126480" y="1508760"/>
            <a:ext cx="2560320" cy="3063240"/>
          </a:xfrm>
          <a:prstGeom prst="roundRect">
            <a:avLst>
              <a:gd name="adj" fmla="val 285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6309360" y="1691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FaExclamationTriang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18223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Недовольство арабов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32004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Арабское население опасалось утраты земель и политического влияния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Предпосылки создания государства Израиль</a:t>
            </a:r>
            <a:endParaRPr lang="en-US" sz="2400" dirty="0"/>
          </a:p>
        </p:txBody>
      </p:sp>
      <p:sp>
        <p:nvSpPr>
          <p:cNvPr id="3" name="timeline-axis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1917</a:t>
            </a:r>
            <a:endParaRPr lang="en-US" sz="2000" dirty="0"/>
          </a:p>
        </p:txBody>
      </p:sp>
      <p:sp>
        <p:nvSpPr>
          <p:cNvPr id="5" name="tl-dot-1"/>
          <p:cNvSpPr/>
          <p:nvPr/>
        </p:nvSpPr>
        <p:spPr>
          <a:xfrm>
            <a:off x="13670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6" name="tl-card-1"/>
          <p:cNvSpPr/>
          <p:nvPr/>
        </p:nvSpPr>
        <p:spPr>
          <a:xfrm>
            <a:off x="512064" y="2377440"/>
            <a:ext cx="1947672" cy="1920240"/>
          </a:xfrm>
          <a:prstGeom prst="roundRect">
            <a:avLst>
              <a:gd name="adj" fmla="val 381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66928" y="246888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Декларация Бальфура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108960"/>
            <a:ext cx="1837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Британия поддержала идею еврейского национального очага в Палестине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234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1920–1930-е</a:t>
            </a:r>
            <a:endParaRPr lang="en-US" sz="1500" dirty="0"/>
          </a:p>
        </p:txBody>
      </p:sp>
      <p:sp>
        <p:nvSpPr>
          <p:cNvPr id="10" name="tl-dot-2"/>
          <p:cNvSpPr/>
          <p:nvPr/>
        </p:nvSpPr>
        <p:spPr>
          <a:xfrm>
            <a:off x="34244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1" name="tl-card-2"/>
          <p:cNvSpPr/>
          <p:nvPr/>
        </p:nvSpPr>
        <p:spPr>
          <a:xfrm>
            <a:off x="2569464" y="2377440"/>
            <a:ext cx="1947672" cy="1920240"/>
          </a:xfrm>
          <a:prstGeom prst="roundRect">
            <a:avLst>
              <a:gd name="adj" fmla="val 381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624328" y="246888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Британский мандат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24328" y="3108960"/>
            <a:ext cx="1837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Рост иммиграции и числа поселений, усиление противоречий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1234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1939–1945</a:t>
            </a:r>
            <a:endParaRPr lang="en-US" sz="2000" dirty="0"/>
          </a:p>
        </p:txBody>
      </p:sp>
      <p:sp>
        <p:nvSpPr>
          <p:cNvPr id="15" name="tl-dot-3"/>
          <p:cNvSpPr/>
          <p:nvPr/>
        </p:nvSpPr>
        <p:spPr>
          <a:xfrm>
            <a:off x="54818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6" name="tl-card-3"/>
          <p:cNvSpPr/>
          <p:nvPr/>
        </p:nvSpPr>
        <p:spPr>
          <a:xfrm>
            <a:off x="4626864" y="2377440"/>
            <a:ext cx="1947672" cy="1920240"/>
          </a:xfrm>
          <a:prstGeom prst="roundRect">
            <a:avLst>
              <a:gd name="adj" fmla="val 381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81728" y="246888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Холокост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81728" y="3108960"/>
            <a:ext cx="1837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Резко выросла международная поддержка идеи еврейского государства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1234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1947</a:t>
            </a:r>
            <a:endParaRPr lang="en-US" sz="2000" dirty="0"/>
          </a:p>
        </p:txBody>
      </p:sp>
      <p:sp>
        <p:nvSpPr>
          <p:cNvPr id="20" name="tl-dot-4"/>
          <p:cNvSpPr/>
          <p:nvPr/>
        </p:nvSpPr>
        <p:spPr>
          <a:xfrm>
            <a:off x="75392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21" name="tl-card-4"/>
          <p:cNvSpPr/>
          <p:nvPr/>
        </p:nvSpPr>
        <p:spPr>
          <a:xfrm>
            <a:off x="6684264" y="2377440"/>
            <a:ext cx="1947672" cy="1920240"/>
          </a:xfrm>
          <a:prstGeom prst="roundRect">
            <a:avLst>
              <a:gd name="adj" fmla="val 381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739128" y="246888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План ООН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739128" y="3108960"/>
            <a:ext cx="1837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Генассамблея ООН предлагает раздел Палестины на два государства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План ООН по разделу Палестины (1947)</a:t>
            </a:r>
            <a:endParaRPr lang="en-US" sz="2400" dirty="0"/>
          </a:p>
        </p:txBody>
      </p:sp>
      <p:sp>
        <p:nvSpPr>
          <p:cNvPr id="3" name="col-head-1"/>
          <p:cNvSpPr/>
          <p:nvPr/>
        </p:nvSpPr>
        <p:spPr>
          <a:xfrm>
            <a:off x="45720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Еврейское руководство</a:t>
            </a:r>
            <a:endParaRPr lang="en-US" sz="1600" dirty="0"/>
          </a:p>
        </p:txBody>
      </p:sp>
      <p:sp>
        <p:nvSpPr>
          <p:cNvPr id="5" name="col-body-1"/>
          <p:cNvSpPr/>
          <p:nvPr/>
        </p:nvSpPr>
        <p:spPr>
          <a:xfrm>
            <a:off x="457200" y="1828800"/>
            <a:ext cx="397764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Согласилось с предложенным планом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Получало возможность создать собственное государство</a:t>
            </a:r>
            <a:endParaRPr lang="en-US" sz="1500" dirty="0"/>
          </a:p>
        </p:txBody>
      </p:sp>
      <p:sp>
        <p:nvSpPr>
          <p:cNvPr id="7" name="col-head-2"/>
          <p:cNvSpPr/>
          <p:nvPr/>
        </p:nvSpPr>
        <p:spPr>
          <a:xfrm>
            <a:off x="470916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Арабские государства и палестинцы</a:t>
            </a:r>
            <a:endParaRPr lang="en-US" sz="1600" dirty="0"/>
          </a:p>
        </p:txBody>
      </p:sp>
      <p:sp>
        <p:nvSpPr>
          <p:cNvPr id="9" name="col-body-2"/>
          <p:cNvSpPr/>
          <p:nvPr/>
        </p:nvSpPr>
        <p:spPr>
          <a:xfrm>
            <a:off x="4709160" y="1828800"/>
            <a:ext cx="397764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92040" y="196596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Отвергли план раздела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Считали его несправедливым</a:t>
            </a:r>
            <a:endParaRPr lang="en-US" sz="1500" dirty="0"/>
          </a:p>
        </p:txBody>
      </p:sp>
      <p:sp>
        <p:nvSpPr>
          <p:cNvPr id="11" name="note-band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По плану ООН Иерусалим должен был получить международный статус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Провозглашение независимости Израиля</a:t>
            </a:r>
            <a:endParaRPr lang="en-US" sz="2400" dirty="0"/>
          </a:p>
        </p:txBody>
      </p:sp>
      <p:sp>
        <p:nvSpPr>
          <p:cNvPr id="3" name="date-panel"/>
          <p:cNvSpPr/>
          <p:nvPr/>
        </p:nvSpPr>
        <p:spPr>
          <a:xfrm>
            <a:off x="457200" y="1188720"/>
            <a:ext cx="3291840" cy="338328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 мая 1948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Давид Бен-Гурион провозгласил создание государства Израиль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Война за независимость Израиля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188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Уже на следующий день против нового государства начали войну армии пяти арабских стран:</a:t>
            </a:r>
            <a:endParaRPr lang="en-US" sz="1500" dirty="0"/>
          </a:p>
        </p:txBody>
      </p:sp>
      <p:sp>
        <p:nvSpPr>
          <p:cNvPr id="8" name="state-1"/>
          <p:cNvSpPr/>
          <p:nvPr/>
        </p:nvSpPr>
        <p:spPr>
          <a:xfrm>
            <a:off x="4114800" y="1965960"/>
            <a:ext cx="4572000" cy="429768"/>
          </a:xfrm>
          <a:prstGeom prst="roundRect">
            <a:avLst>
              <a:gd name="adj" fmla="val 1702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4206240" y="2020824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FaFla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6649" y="2091233"/>
            <a:ext cx="179222" cy="17922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663440" y="196596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Египет</a:t>
            </a:r>
            <a:endParaRPr lang="en-US" sz="1500" dirty="0"/>
          </a:p>
        </p:txBody>
      </p:sp>
      <p:sp>
        <p:nvSpPr>
          <p:cNvPr id="12" name="state-2"/>
          <p:cNvSpPr/>
          <p:nvPr/>
        </p:nvSpPr>
        <p:spPr>
          <a:xfrm>
            <a:off x="4114800" y="2487168"/>
            <a:ext cx="4572000" cy="429768"/>
          </a:xfrm>
          <a:prstGeom prst="roundRect">
            <a:avLst>
              <a:gd name="adj" fmla="val 1702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3" name="icon-circle"/>
          <p:cNvSpPr/>
          <p:nvPr/>
        </p:nvSpPr>
        <p:spPr>
          <a:xfrm>
            <a:off x="4206240" y="2542032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FaFla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649" y="2612441"/>
            <a:ext cx="179222" cy="17922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63440" y="248716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Сирия</a:t>
            </a:r>
            <a:endParaRPr lang="en-US" sz="1500" dirty="0"/>
          </a:p>
        </p:txBody>
      </p:sp>
      <p:sp>
        <p:nvSpPr>
          <p:cNvPr id="16" name="state-3"/>
          <p:cNvSpPr/>
          <p:nvPr/>
        </p:nvSpPr>
        <p:spPr>
          <a:xfrm>
            <a:off x="4114800" y="3008376"/>
            <a:ext cx="4572000" cy="429768"/>
          </a:xfrm>
          <a:prstGeom prst="roundRect">
            <a:avLst>
              <a:gd name="adj" fmla="val 1702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7" name="icon-circle"/>
          <p:cNvSpPr/>
          <p:nvPr/>
        </p:nvSpPr>
        <p:spPr>
          <a:xfrm>
            <a:off x="4206240" y="3063240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-FaFla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649" y="3133649"/>
            <a:ext cx="179222" cy="17922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663440" y="300837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Иордания</a:t>
            </a:r>
            <a:endParaRPr lang="en-US" sz="1500" dirty="0"/>
          </a:p>
        </p:txBody>
      </p:sp>
      <p:sp>
        <p:nvSpPr>
          <p:cNvPr id="20" name="state-4"/>
          <p:cNvSpPr/>
          <p:nvPr/>
        </p:nvSpPr>
        <p:spPr>
          <a:xfrm>
            <a:off x="4114800" y="3529584"/>
            <a:ext cx="4572000" cy="429768"/>
          </a:xfrm>
          <a:prstGeom prst="roundRect">
            <a:avLst>
              <a:gd name="adj" fmla="val 1702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1" name="icon-circle"/>
          <p:cNvSpPr/>
          <p:nvPr/>
        </p:nvSpPr>
        <p:spPr>
          <a:xfrm>
            <a:off x="4206240" y="3584448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-FaFla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649" y="3654857"/>
            <a:ext cx="179222" cy="17922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663440" y="352958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Ливан</a:t>
            </a:r>
            <a:endParaRPr lang="en-US" sz="1500" dirty="0"/>
          </a:p>
        </p:txBody>
      </p:sp>
      <p:sp>
        <p:nvSpPr>
          <p:cNvPr id="24" name="state-5"/>
          <p:cNvSpPr/>
          <p:nvPr/>
        </p:nvSpPr>
        <p:spPr>
          <a:xfrm>
            <a:off x="4114800" y="4050792"/>
            <a:ext cx="4572000" cy="429768"/>
          </a:xfrm>
          <a:prstGeom prst="roundRect">
            <a:avLst>
              <a:gd name="adj" fmla="val 1702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5" name="icon-circle"/>
          <p:cNvSpPr/>
          <p:nvPr/>
        </p:nvSpPr>
        <p:spPr>
          <a:xfrm>
            <a:off x="4206240" y="4105656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FaFla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649" y="4176065"/>
            <a:ext cx="179222" cy="17922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63440" y="4050792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Ирак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Итоги Первой арабо-израильской войны</a:t>
            </a:r>
            <a:endParaRPr lang="en-US" sz="2400" dirty="0"/>
          </a:p>
        </p:txBody>
      </p:sp>
      <p:sp>
        <p:nvSpPr>
          <p:cNvPr id="3" name="stat-1"/>
          <p:cNvSpPr/>
          <p:nvPr/>
        </p:nvSpPr>
        <p:spPr>
          <a:xfrm>
            <a:off x="457200" y="128016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≈700 тыс.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палестинских арабов покинули свои дома или переселились в соседние страны</a:t>
            </a:r>
            <a:endParaRPr lang="en-US" sz="1400" dirty="0"/>
          </a:p>
        </p:txBody>
      </p:sp>
      <p:sp>
        <p:nvSpPr>
          <p:cNvPr id="6" name="stat-2"/>
          <p:cNvSpPr/>
          <p:nvPr/>
        </p:nvSpPr>
        <p:spPr>
          <a:xfrm>
            <a:off x="3291840" y="128016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463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«Накба»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«катастрофа» — так палестинцы называют события 1948–1949 гг.</a:t>
            </a:r>
            <a:endParaRPr lang="en-US" sz="1400" dirty="0"/>
          </a:p>
        </p:txBody>
      </p:sp>
      <p:sp>
        <p:nvSpPr>
          <p:cNvPr id="9" name="stat-3"/>
          <p:cNvSpPr/>
          <p:nvPr/>
        </p:nvSpPr>
        <p:spPr>
          <a:xfrm>
            <a:off x="6126480" y="128016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1463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Победа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Израиль сохранил независимость и расширил территорию по сравнению с планом ООН</a:t>
            </a:r>
            <a:endParaRPr lang="en-US" sz="1400" dirty="0"/>
          </a:p>
        </p:txBody>
      </p:sp>
      <p:sp>
        <p:nvSpPr>
          <p:cNvPr id="12" name="note-band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Возникла проблема палестинских беженцев, не решённая до настоящего времени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Арабо-израильские войны и мирный процесс</a:t>
            </a:r>
            <a:endParaRPr lang="en-US" sz="2400" dirty="0"/>
          </a:p>
        </p:txBody>
      </p:sp>
      <p:graphicFrame>
        <p:nvGraphicFramePr>
          <p:cNvPr id="9" name="even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5486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Год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Событие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+mj-lt" pitchFamily="34" charset="0"/>
                          <a:ea typeface="+mj-lt" pitchFamily="34" charset="-122"/>
                          <a:cs typeface="+mj-lt" pitchFamily="34" charset="-120"/>
                        </a:rPr>
                        <a:t>Содержание и итоги</a:t>
                      </a:r>
                      <a:endParaRPr lang="en-US" sz="1400" dirty="0">
                        <a:latin typeface="+mj-lt" charset="0"/>
                        <a:ea typeface="+mj-lt" charset="0"/>
                        <a:cs typeface="+mj-lt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1956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Суэцкий кризис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Насер национализировал Суэцкий канал; Великобритания, Франция и Израиль атаковали Египет. Давление СССР и США вынудило вывести войска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1967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Шестидневная война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Упреждающий удар Израиля; заняты Синай, сектор Газа, Западный берег, Восточный Иерусалим и Голанские высоты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1973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Война Судного дня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Внезапная атака Египта и Сирии в Йом-Киппур; контрнаступление Израиля; прекращение огня при посредничестве ООН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1978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Кэмп-Дэвид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Египет первым из арабских государств признал Израиль и получил обратно Синайский полуостров</a:t>
                      </a:r>
                      <a:endParaRPr lang="en-US" sz="13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B6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Палестинская проблема</a:t>
            </a:r>
            <a:endParaRPr lang="en-US" sz="2400" dirty="0"/>
          </a:p>
        </p:txBody>
      </p:sp>
      <p:sp>
        <p:nvSpPr>
          <p:cNvPr id="3" name="plo-panel"/>
          <p:cNvSpPr/>
          <p:nvPr/>
        </p:nvSpPr>
        <p:spPr>
          <a:xfrm>
            <a:off x="457200" y="1188720"/>
            <a:ext cx="3017520" cy="3383280"/>
          </a:xfrm>
          <a:prstGeom prst="roundRect">
            <a:avLst>
              <a:gd name="adj" fmla="val 3030"/>
            </a:avLst>
          </a:prstGeom>
          <a:solidFill>
            <a:schemeClr val="accent4"/>
          </a:solidFill>
          <a:ln/>
        </p:spPr>
      </p:sp>
      <p:sp>
        <p:nvSpPr>
          <p:cNvPr id="4" name="icon-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-FaUs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538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ООП, 1964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Организация освобождения Палестины — главный представитель палестинского народа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Лидер с конца 1960-х — Ясир Арафат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Цели: собственное государство и возвращение беженцев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749040" y="1188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Нерешённые вопросы урегулирования</a:t>
            </a:r>
            <a:endParaRPr lang="en-US" sz="1700" dirty="0"/>
          </a:p>
        </p:txBody>
      </p:sp>
      <p:sp>
        <p:nvSpPr>
          <p:cNvPr id="9" name="issue-1"/>
          <p:cNvSpPr/>
          <p:nvPr/>
        </p:nvSpPr>
        <p:spPr>
          <a:xfrm>
            <a:off x="3749040" y="1737360"/>
            <a:ext cx="2377440" cy="1280160"/>
          </a:xfrm>
          <a:prstGeom prst="roundRect">
            <a:avLst>
              <a:gd name="adj" fmla="val 571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393192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FaLand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04" y="20208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31920" y="24231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Статус Иерусалима</a:t>
            </a:r>
            <a:endParaRPr lang="en-US" sz="1400" dirty="0"/>
          </a:p>
        </p:txBody>
      </p:sp>
      <p:sp>
        <p:nvSpPr>
          <p:cNvPr id="13" name="issue-2"/>
          <p:cNvSpPr/>
          <p:nvPr/>
        </p:nvSpPr>
        <p:spPr>
          <a:xfrm>
            <a:off x="6309360" y="1737360"/>
            <a:ext cx="2377440" cy="1280160"/>
          </a:xfrm>
          <a:prstGeom prst="roundRect">
            <a:avLst>
              <a:gd name="adj" fmla="val 571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FaMapMarkedAl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02082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4231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Границы палестинского государства</a:t>
            </a:r>
            <a:endParaRPr lang="en-US" sz="1400" dirty="0"/>
          </a:p>
        </p:txBody>
      </p:sp>
      <p:sp>
        <p:nvSpPr>
          <p:cNvPr id="17" name="issue-3"/>
          <p:cNvSpPr/>
          <p:nvPr/>
        </p:nvSpPr>
        <p:spPr>
          <a:xfrm>
            <a:off x="3749040" y="3200400"/>
            <a:ext cx="2377440" cy="1280160"/>
          </a:xfrm>
          <a:prstGeom prst="roundRect">
            <a:avLst>
              <a:gd name="adj" fmla="val 571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8" name="icon-circle"/>
          <p:cNvSpPr/>
          <p:nvPr/>
        </p:nvSpPr>
        <p:spPr>
          <a:xfrm>
            <a:off x="3931920" y="3383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-FaHom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504" y="348386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931920" y="3886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Еврейские поселения</a:t>
            </a:r>
            <a:endParaRPr lang="en-US" sz="1400" dirty="0"/>
          </a:p>
        </p:txBody>
      </p:sp>
      <p:sp>
        <p:nvSpPr>
          <p:cNvPr id="21" name="issue-4"/>
          <p:cNvSpPr/>
          <p:nvPr/>
        </p:nvSpPr>
        <p:spPr>
          <a:xfrm>
            <a:off x="6309360" y="3200400"/>
            <a:ext cx="2377440" cy="1280160"/>
          </a:xfrm>
          <a:prstGeom prst="roundRect">
            <a:avLst>
              <a:gd name="adj" fmla="val 571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2" name="icon-circle"/>
          <p:cNvSpPr/>
          <p:nvPr/>
        </p:nvSpPr>
        <p:spPr>
          <a:xfrm>
            <a:off x="6492240" y="3383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FaUser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3483864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492240" y="3886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Судьба палестинских беженцев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Выводы</a:t>
            </a:r>
            <a:endParaRPr lang="en-US" sz="2800" dirty="0"/>
          </a:p>
        </p:txBody>
      </p:sp>
      <p:sp>
        <p:nvSpPr>
          <p:cNvPr id="3" name="takeaway-1"/>
          <p:cNvSpPr/>
          <p:nvPr/>
        </p:nvSpPr>
        <p:spPr>
          <a:xfrm>
            <a:off x="45720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Истоки конфликта — борьба за Палестину, землю, священную для евреев, мусульман и христиан</a:t>
            </a:r>
            <a:endParaRPr lang="en-US" sz="1500" dirty="0"/>
          </a:p>
        </p:txBody>
      </p:sp>
      <p:sp>
        <p:nvSpPr>
          <p:cNvPr id="7" name="takeaway-2"/>
          <p:cNvSpPr/>
          <p:nvPr/>
        </p:nvSpPr>
        <p:spPr>
          <a:xfrm>
            <a:off x="329184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num-2"/>
          <p:cNvSpPr/>
          <p:nvPr/>
        </p:nvSpPr>
        <p:spPr>
          <a:xfrm>
            <a:off x="352044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286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Войны 1948–1973 гг. изменили карту региона, но показали, что проблему нельзя решить военным путём</a:t>
            </a:r>
            <a:endParaRPr lang="en-US" sz="1500" dirty="0"/>
          </a:p>
        </p:txBody>
      </p:sp>
      <p:sp>
        <p:nvSpPr>
          <p:cNvPr id="11" name="takeaway-3"/>
          <p:cNvSpPr/>
          <p:nvPr/>
        </p:nvSpPr>
        <p:spPr>
          <a:xfrm>
            <a:off x="612648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-3"/>
          <p:cNvSpPr/>
          <p:nvPr/>
        </p:nvSpPr>
        <p:spPr>
          <a:xfrm>
            <a:off x="635508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286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Конфликт остаётся ключевым фактором нестабильности Ближнего Востока и влияет на мировую политику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ергамент">
  <a:themeElements>
    <a:clrScheme name="Пергамент">
      <a:dk1>
        <a:srgbClr val="2B1A10"/>
      </a:dk1>
      <a:lt1>
        <a:srgbClr val="FFFFFF"/>
      </a:lt1>
      <a:dk2>
        <a:srgbClr val="4A2C1A"/>
      </a:dk2>
      <a:lt2>
        <a:srgbClr val="F4EAD5"/>
      </a:lt2>
      <a:accent1>
        <a:srgbClr val="8C2F1F"/>
      </a:accent1>
      <a:accent2>
        <a:srgbClr val="C08F3A"/>
      </a:accent2>
      <a:accent3>
        <a:srgbClr val="4E6B47"/>
      </a:accent3>
      <a:accent4>
        <a:srgbClr val="2F4A5A"/>
      </a:accent4>
      <a:accent5>
        <a:srgbClr val="9A5B34"/>
      </a:accent5>
      <a:accent6>
        <a:srgbClr val="7B6852"/>
      </a:accent6>
      <a:hlink>
        <a:srgbClr val="8C2F1F"/>
      </a:hlink>
      <a:folHlink>
        <a:srgbClr val="7B6852"/>
      </a:folHlink>
    </a:clrScheme>
    <a:fontScheme name="Пергамент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12. Создание государства Израиль. Арабо-израильские войны</dc:title>
  <dc:subject>PptxGenJS Presentation</dc:subject>
  <dc:creator>Лекционный курс</dc:creator>
  <cp:lastModifiedBy>Лекционный курс</cp:lastModifiedBy>
  <cp:revision>1</cp:revision>
  <dcterms:created xsi:type="dcterms:W3CDTF">2026-10-19T14:28:20Z</dcterms:created>
  <dcterms:modified xsi:type="dcterms:W3CDTF">2026-10-19T14:28:20Z</dcterms:modified>
</cp:coreProperties>
</file>