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f00f2415-b5dc-29b0-42a3-c23244aee943}">
          <p14:sldIdLst>
            <p14:sldId id="256"/>
            <p14:sldId id="257"/>
          </p14:sldIdLst>
        </p14:section>
        <p14:section name="Политическое развитие" id="{909f81c5-1a46-a75f-520d-5696f06d2068}">
          <p14:sldIdLst>
            <p14:sldId id="258"/>
            <p14:sldId id="259"/>
          </p14:sldIdLst>
        </p14:section>
        <p14:section name="Стабильность и безопасность" id="{903f69f4-b160-d570-161d-4494318e3914}">
          <p14:sldIdLst>
            <p14:sldId id="260"/>
            <p14:sldId id="261"/>
          </p14:sldIdLst>
        </p14:section>
        <p14:section name="Вызовы развития" id="{69472011-facd-4b78-d48e-cc0d85091310}">
          <p14:sldIdLst>
            <p14:sldId id="262"/>
            <p14:sldId id="263"/>
          </p14:sldIdLst>
        </p14:section>
        <p14:section name="Международное значение" id="{45cfd06e-0c9a-bf96-6776-95402fd4bce9}">
          <p14:sldIdLst>
            <p14:sldId id="264"/>
          </p14:sldIdLst>
        </p14:section>
        <p14:section name="Выводы" id="{e36cf7fe-1883-195c-11ff-529fe393ea1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Начало XXI века стало периодом глубоких политических, экономических и социальных изменений в странах Азии и Африки. Эти регионы занимают важное место в современной мировой политике благодаря своему демографическому потенциалу, природным ресурсам и возрастающей роли в международной экономике. Вместе с тем государства Азии и Африки сталкиваются с многочисленными вызовами, связанными с модернизацией, глобализацией, социальным развитием и обеспечением политической стабильности.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Начало XXI века стало периодом глубоких политических, экономических и социальных изменений в странах Азии и Африки. Эти регионы занимают важное место в современной мировой политике благодаря своему демографическому потенциалу, природным ресурсам и возрастающей роли в международной экономике. Вместе с тем государства Азии и Африки сталкиваются с многочисленными вызовами, связанными с модернизацией, глобализацией, социальным развитием и обеспечением политической стабильности.
Одной из характерных черт современного этапа является разнообразие политических систем. В странах Азии и Африки существуют демократические республики, монархии, авторитарные режимы и смешанные формы правления. Политическое развитие государств происходит неодинаково: одни страны успешно проводят реформы и укрепляют демократические институты, другие продолжают сталкиваться с политической нестабильностью и внутренними конфликтами.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многих государствах проводятся политические реформы, направленные на расширение участия граждан в управлении страной, развитие многопартийности и совершенствование избирательных систем. Особенно заметными эти процессы стали в ряде стран Юго-Восточной Азии и Африки. Однако демократизация нередко сопровождается политической борьбой, протестными движениями и конфликтами между различными политическими силами.
Значительным событием начала XXI века стала серия протестных движений в странах Северной Африки и Ближнего Востока, получившая название Арабская весна. Массовые выступления населения были вызваны недовольством коррупцией, безработицей, ограничением политических свобод и социальным неравенством. В ряде государств произошла смена власти, однако во многих случаях политическая нестабильность сохранилась на длительное время.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Одной из главных задач современных государств Азии и Африки остаётся обеспечение политической стабильности. В некоторых странах продолжаются этнические, религиозные и региональные конфликты. Противоречия между различными группами населения могут приводить к вооружённым столкновениям и гуманитарным кризисам. Особую опасность представляют экстремистские и террористические организации, деятельность которых угрожает безопасности государств и населения.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Большое влияние на политические процессы оказывает глобализация. Современные информационные технологии и социальные сети значительно ускорили распространение информации и расширили возможности политической мобилизации населения. Интернет стал важным инструментом политической коммуникации, общественного контроля и участия граждан в общественной жизни. Одновременно цифровая среда может использоваться для распространения дезинформации, радикальных идей и политической пропаганды.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Серьёзным вызовом остаются социально-экономические проблемы. Несмотря на высокие темпы роста экономики в ряде государств, миллионы людей продолжают жить в условиях бедности. Для многих стран характерны высокий уровень безработицы, особенно среди молодёжи, неравномерное распределение доходов и ограниченный доступ к качественному образованию и медицинским услугам.
Важной проблемой является быстрый рост населения. Особенно это характерно для многих государств Африки. Демографический рост создаёт дополнительную нагрузку на системы образования, здравоохранения, рынок труда и инфраструктуру. Государствам приходится решать задачи обеспечения населения жильём, рабочими местами и социальными услугами.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Существенное влияние на развитие стран Азии и Африки оказывают экологические проблемы. Изменение климата, засухи, опустынивание земель, нехватка пресной воды и загрязнение окружающей среды становятся серьёзными препятствиями для устойчивого развития. Многие государства вынуждены разрабатывать программы адаптации к климатическим изменениям и совершенствовать экологическую политику.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XXI веке значительно возросла роль азиатских государств в мировой экономике и политике. Особое место занимают Китай и Индия, которые входят в число крупнейших экономик мира. Их развитие оказывает влияние на международную торговлю, инвестиционные процессы и глобальную политическую систему. Одновременно усиливается значение региональных организаций и интеграционных объединений.
Страны Африки также постепенно укрепляют свои позиции в мировой политике. Расширяется деятельность Африканский союз, развивается региональное сотрудничество, увеличиваются объёмы иностранных инвестиций. Многие государства стремятся диверсифицировать экономику и снизить зависимость от экспорта сырья.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Таким образом, политические процессы в странах Азии и Африки в XXI веке характеризуются сочетанием модернизации, экономического роста и сложных социальных вызовов. Несмотря на существующие проблемы, эти регионы становятся всё более важными участниками мировой политики и экономики. Успешное решение вопросов политической стабильности, устойчивого развития, социальной справедливости и экологической безопасности будет во многом определять их будущее место в современном мире.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Лекция 15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ЛЕКЦИЯ 15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Политические процессы в странах Азии и Африки в XXI веке. Основные вызовы современного развития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Модернизация, глобализация и вызовы устойчивого развития</a:t>
            </a:r>
            <a:endParaRPr lang="en-US" sz="1500" dirty="0"/>
          </a:p>
        </p:txBody>
      </p:sp>
      <p:sp>
        <p:nvSpPr>
          <p:cNvPr id="5" name="motif-ring"/>
          <p:cNvSpPr/>
          <p:nvPr/>
        </p:nvSpPr>
        <p:spPr>
          <a:xfrm>
            <a:off x="6446520" y="1325880"/>
            <a:ext cx="2194560" cy="21945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675120" y="15544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FaGlob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39" y="193669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План лекции</a:t>
            </a:r>
            <a:endParaRPr lang="en-US" sz="2400" dirty="0"/>
          </a:p>
        </p:txBody>
      </p:sp>
      <p:sp>
        <p:nvSpPr>
          <p:cNvPr id="3" name="num-1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60704" y="1188720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Особенности политического развития стран Азии и Африки в XXI веке</a:t>
            </a:r>
            <a:endParaRPr lang="en-US" sz="1600" dirty="0"/>
          </a:p>
        </p:txBody>
      </p:sp>
      <p:sp>
        <p:nvSpPr>
          <p:cNvPr id="6" name="num-2"/>
          <p:cNvSpPr/>
          <p:nvPr/>
        </p:nvSpPr>
        <p:spPr>
          <a:xfrm>
            <a:off x="457200" y="19933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865376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Демократизация и политические реформы</a:t>
            </a:r>
            <a:endParaRPr lang="en-US" sz="1600" dirty="0"/>
          </a:p>
        </p:txBody>
      </p:sp>
      <p:sp>
        <p:nvSpPr>
          <p:cNvPr id="9" name="num-3"/>
          <p:cNvSpPr/>
          <p:nvPr/>
        </p:nvSpPr>
        <p:spPr>
          <a:xfrm>
            <a:off x="457200" y="26700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542032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Роль государства и проблемы политической стабильности</a:t>
            </a:r>
            <a:endParaRPr lang="en-US" sz="1600" dirty="0"/>
          </a:p>
        </p:txBody>
      </p:sp>
      <p:sp>
        <p:nvSpPr>
          <p:cNvPr id="12" name="num-4"/>
          <p:cNvSpPr/>
          <p:nvPr/>
        </p:nvSpPr>
        <p:spPr>
          <a:xfrm>
            <a:off x="457200" y="33467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218688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Экономические и социальные вызовы современного развития</a:t>
            </a:r>
            <a:endParaRPr lang="en-US" sz="1600" dirty="0"/>
          </a:p>
        </p:txBody>
      </p:sp>
      <p:sp>
        <p:nvSpPr>
          <p:cNvPr id="15" name="num-5"/>
          <p:cNvSpPr/>
          <p:nvPr/>
        </p:nvSpPr>
        <p:spPr>
          <a:xfrm>
            <a:off x="457200" y="4023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3895344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Международное значение стран Азии и Африки в XXI веке</a:t>
            </a:r>
            <a:endParaRPr lang="en-US" sz="1600" dirty="0"/>
          </a:p>
        </p:txBody>
      </p:sp>
      <p:sp>
        <p:nvSpPr>
          <p:cNvPr id="18" name="range-panel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FaHourglassHal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18" y="1558138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093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Хронологические рамки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XXI век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новая роль Азии и Африки в мировой политике и экономике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Разнообразие политических систем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Одни страны укрепляют демократические институты, другие сталкиваются с нестабильностью</a:t>
            </a:r>
            <a:endParaRPr lang="en-US" sz="1400" dirty="0"/>
          </a:p>
        </p:txBody>
      </p:sp>
      <p:sp>
        <p:nvSpPr>
          <p:cNvPr id="4" name="card-1"/>
          <p:cNvSpPr/>
          <p:nvPr/>
        </p:nvSpPr>
        <p:spPr>
          <a:xfrm>
            <a:off x="45720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FaVoteYe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Демократии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Выборы, многопартийность, участие граждан в управлении</a:t>
            </a:r>
            <a:endParaRPr lang="en-US" sz="1300" dirty="0"/>
          </a:p>
        </p:txBody>
      </p:sp>
      <p:sp>
        <p:nvSpPr>
          <p:cNvPr id="9" name="card-2"/>
          <p:cNvSpPr/>
          <p:nvPr/>
        </p:nvSpPr>
        <p:spPr>
          <a:xfrm>
            <a:off x="258318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27660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Crow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1792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6606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Монархии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6606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Сохранение традиционных форм власти</a:t>
            </a:r>
            <a:endParaRPr lang="en-US" sz="1300" dirty="0"/>
          </a:p>
        </p:txBody>
      </p:sp>
      <p:sp>
        <p:nvSpPr>
          <p:cNvPr id="14" name="card-3"/>
          <p:cNvSpPr/>
          <p:nvPr/>
        </p:nvSpPr>
        <p:spPr>
          <a:xfrm>
            <a:off x="470916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FaGavel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792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Авторитаризм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Концентрация власти в руках лидера или партии</a:t>
            </a:r>
            <a:endParaRPr lang="en-US" sz="1300" dirty="0"/>
          </a:p>
        </p:txBody>
      </p:sp>
      <p:sp>
        <p:nvSpPr>
          <p:cNvPr id="19" name="card-4"/>
          <p:cNvSpPr/>
          <p:nvPr/>
        </p:nvSpPr>
        <p:spPr>
          <a:xfrm>
            <a:off x="683514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70180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FaBalanceSca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04" y="17922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802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Смешанные формы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1802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Сочетание черт разных политических моделей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Демократизация и «Арабская весна»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Серия протестных движений в Северной Африке и на Ближнем Востоке в начале 2010-х годов</a:t>
            </a:r>
            <a:endParaRPr lang="en-US" sz="1400" dirty="0"/>
          </a:p>
        </p:txBody>
      </p:sp>
      <p:sp>
        <p:nvSpPr>
          <p:cNvPr id="4" name="step-1"/>
          <p:cNvSpPr/>
          <p:nvPr/>
        </p:nvSpPr>
        <p:spPr>
          <a:xfrm>
            <a:off x="457200" y="160020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30352" y="16002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Причины</a:t>
            </a:r>
            <a:endParaRPr lang="en-US" sz="1400" dirty="0"/>
          </a:p>
        </p:txBody>
      </p:sp>
      <p:sp>
        <p:nvSpPr>
          <p:cNvPr id="6" name="arrow-1"/>
          <p:cNvSpPr/>
          <p:nvPr/>
        </p:nvSpPr>
        <p:spPr>
          <a:xfrm>
            <a:off x="2322576" y="203454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7" name="step-desc-1"/>
          <p:cNvSpPr/>
          <p:nvPr/>
        </p:nvSpPr>
        <p:spPr>
          <a:xfrm>
            <a:off x="457200" y="297180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30632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Коррупция, безработица, ограничение свобод, неравенство</a:t>
            </a:r>
            <a:endParaRPr lang="en-US" sz="1400" dirty="0"/>
          </a:p>
        </p:txBody>
      </p:sp>
      <p:sp>
        <p:nvSpPr>
          <p:cNvPr id="9" name="step-2"/>
          <p:cNvSpPr/>
          <p:nvPr/>
        </p:nvSpPr>
        <p:spPr>
          <a:xfrm>
            <a:off x="2596896" y="160020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70048" y="16002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Массовые протесты</a:t>
            </a:r>
            <a:endParaRPr lang="en-US" sz="1400" dirty="0"/>
          </a:p>
        </p:txBody>
      </p:sp>
      <p:sp>
        <p:nvSpPr>
          <p:cNvPr id="11" name="arrow-2"/>
          <p:cNvSpPr/>
          <p:nvPr/>
        </p:nvSpPr>
        <p:spPr>
          <a:xfrm>
            <a:off x="4462272" y="203454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step-desc-2"/>
          <p:cNvSpPr/>
          <p:nvPr/>
        </p:nvSpPr>
        <p:spPr>
          <a:xfrm>
            <a:off x="2596896" y="297180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88336" y="30632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Выступления населения во многих странах региона</a:t>
            </a:r>
            <a:endParaRPr lang="en-US" sz="1400" dirty="0"/>
          </a:p>
        </p:txBody>
      </p:sp>
      <p:sp>
        <p:nvSpPr>
          <p:cNvPr id="14" name="step-3"/>
          <p:cNvSpPr/>
          <p:nvPr/>
        </p:nvSpPr>
        <p:spPr>
          <a:xfrm>
            <a:off x="4736592" y="160020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9744" y="16002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Смена власти</a:t>
            </a:r>
            <a:endParaRPr lang="en-US" sz="1400" dirty="0"/>
          </a:p>
        </p:txBody>
      </p:sp>
      <p:sp>
        <p:nvSpPr>
          <p:cNvPr id="16" name="arrow-3"/>
          <p:cNvSpPr/>
          <p:nvPr/>
        </p:nvSpPr>
        <p:spPr>
          <a:xfrm>
            <a:off x="6601968" y="203454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7" name="step-desc-3"/>
          <p:cNvSpPr/>
          <p:nvPr/>
        </p:nvSpPr>
        <p:spPr>
          <a:xfrm>
            <a:off x="4736592" y="297180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28032" y="30632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Падение режимов в ряде государств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6876288" y="160020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60020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Кризисы</a:t>
            </a:r>
            <a:endParaRPr lang="en-US" sz="1400" dirty="0"/>
          </a:p>
        </p:txBody>
      </p:sp>
      <p:sp>
        <p:nvSpPr>
          <p:cNvPr id="21" name="step-desc-4"/>
          <p:cNvSpPr/>
          <p:nvPr/>
        </p:nvSpPr>
        <p:spPr>
          <a:xfrm>
            <a:off x="6876288" y="297180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967728" y="306324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Во многих странах — на долгие годы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Угрозы политической стабильности</a:t>
            </a:r>
            <a:endParaRPr lang="en-US" sz="24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User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5023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Внутренние конфликты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Этнические, религиозные и региональные противоречия между группами населения</a:t>
            </a:r>
            <a:endParaRPr lang="en-US" sz="1500" dirty="0"/>
          </a:p>
        </p:txBody>
      </p:sp>
      <p:sp>
        <p:nvSpPr>
          <p:cNvPr id="8" name="card-2"/>
          <p:cNvSpPr/>
          <p:nvPr/>
        </p:nvSpPr>
        <p:spPr>
          <a:xfrm>
            <a:off x="329184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FirstAi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9" y="15023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Гуманитарные кризисы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Вооружённые столкновения приводят к жертвам и потокам беженцев</a:t>
            </a:r>
            <a:endParaRPr lang="en-US" sz="1500" dirty="0"/>
          </a:p>
        </p:txBody>
      </p:sp>
      <p:sp>
        <p:nvSpPr>
          <p:cNvPr id="13" name="card-3"/>
          <p:cNvSpPr/>
          <p:nvPr/>
        </p:nvSpPr>
        <p:spPr>
          <a:xfrm>
            <a:off x="6126480" y="1188720"/>
            <a:ext cx="2560320" cy="3383280"/>
          </a:xfrm>
          <a:prstGeom prst="roundRect">
            <a:avLst>
              <a:gd name="adj" fmla="val 285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ShieldA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19" y="15023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Экстремизм и терроризм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88036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Деятельность экстремистских организаций угрожает государствам и населению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Глобализация и цифровые технологии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Возможности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Быстрое распространение информации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Политическая мобилизация граждан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Общественный контроль и участие в общественной жизни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057400"/>
          </a:xfrm>
          <a:prstGeom prst="roundRect">
            <a:avLst>
              <a:gd name="adj" fmla="val 355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Распространение дезинформации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Радикальные идеи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Политическая пропаганда</a:t>
            </a:r>
            <a:endParaRPr lang="en-US" sz="1500" dirty="0"/>
          </a:p>
        </p:txBody>
      </p:sp>
      <p:sp>
        <p:nvSpPr>
          <p:cNvPr id="11" name="note-band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Интернет и социальные сети стали важным инструментом политической коммуникации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Социально-экономические вызовы</a:t>
            </a:r>
            <a:endParaRPr lang="en-US" sz="24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HandHoldingHear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Бедность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Миллионы людей в бедности даже при быстром росте экономики</a:t>
            </a:r>
            <a:endParaRPr lang="en-US" sz="1500" dirty="0"/>
          </a:p>
        </p:txBody>
      </p:sp>
      <p:sp>
        <p:nvSpPr>
          <p:cNvPr id="8" name="card-2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Briefca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72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Безработица молодёжи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Высокий уровень безработицы, особенно среди молодых людей</a:t>
            </a:r>
            <a:endParaRPr lang="en-US" sz="1500" dirty="0"/>
          </a:p>
        </p:txBody>
      </p:sp>
      <p:sp>
        <p:nvSpPr>
          <p:cNvPr id="13" name="card-3"/>
          <p:cNvSpPr/>
          <p:nvPr/>
        </p:nvSpPr>
        <p:spPr>
          <a:xfrm>
            <a:off x="45720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BalanceScaleLef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009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Неравенство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Неравномерные доходы, ограниченный доступ к образованию и медицине</a:t>
            </a:r>
            <a:endParaRPr lang="en-US" sz="1500" dirty="0"/>
          </a:p>
        </p:txBody>
      </p:sp>
      <p:sp>
        <p:nvSpPr>
          <p:cNvPr id="18" name="card-4"/>
          <p:cNvSpPr/>
          <p:nvPr/>
        </p:nvSpPr>
        <p:spPr>
          <a:xfrm>
            <a:off x="470916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FaUs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3009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Рост населения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Особенно в Африке: нужны жильё, рабочие места, социальные услуги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Экологические вызовы</a:t>
            </a:r>
            <a:endParaRPr lang="en-US" sz="24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ThermometerHal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Изменение климата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Угроза устойчивому развитию целых регионов</a:t>
            </a:r>
            <a:endParaRPr lang="en-US" sz="1300" dirty="0"/>
          </a:p>
        </p:txBody>
      </p:sp>
      <p:sp>
        <p:nvSpPr>
          <p:cNvPr id="8" name="card-2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Su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Засухи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Потери урожая и угроза продовольственной безопасности</a:t>
            </a:r>
            <a:endParaRPr lang="en-US" sz="1300" dirty="0"/>
          </a:p>
        </p:txBody>
      </p:sp>
      <p:sp>
        <p:nvSpPr>
          <p:cNvPr id="13" name="card-3"/>
          <p:cNvSpPr/>
          <p:nvPr/>
        </p:nvSpPr>
        <p:spPr>
          <a:xfrm>
            <a:off x="6126480" y="11887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Mountai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4721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Опустынивание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65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Деградация и потеря плодородных земель</a:t>
            </a:r>
            <a:endParaRPr lang="en-US" sz="1300" dirty="0"/>
          </a:p>
        </p:txBody>
      </p:sp>
      <p:sp>
        <p:nvSpPr>
          <p:cNvPr id="18" name="card-4"/>
          <p:cNvSpPr/>
          <p:nvPr/>
        </p:nvSpPr>
        <p:spPr>
          <a:xfrm>
            <a:off x="45720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FaTin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33009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Нехватка воды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Дефицит пресной воды во многих странах</a:t>
            </a:r>
            <a:endParaRPr lang="en-US" sz="1300" dirty="0"/>
          </a:p>
        </p:txBody>
      </p:sp>
      <p:sp>
        <p:nvSpPr>
          <p:cNvPr id="23" name="card-5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4" name="icon-circle"/>
          <p:cNvSpPr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FaIndust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30098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Загрязнение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Ухудшение состояния окружающей среды</a:t>
            </a:r>
            <a:endParaRPr lang="en-US" sz="1300" dirty="0"/>
          </a:p>
        </p:txBody>
      </p:sp>
      <p:sp>
        <p:nvSpPr>
          <p:cNvPr id="28" name="card-6"/>
          <p:cNvSpPr/>
          <p:nvPr/>
        </p:nvSpPr>
        <p:spPr>
          <a:xfrm>
            <a:off x="6126480" y="3017520"/>
            <a:ext cx="256032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9" name="icon-circle"/>
          <p:cNvSpPr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-FaSeedling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330098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Ответ государств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30936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Программы адаптации к климату, новая экологическая политика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Международное значение Азии и Африки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Азия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Китай и Индия — в числе крупнейших экономик мира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Влияние на мировую торговлю и инвестиции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Рост значения региональных объединений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Африка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Расширение деятельности Африканского союза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Развитие регионального сотрудничества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Рост иностранных инвестиций и диверсификация экономики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takeaway-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Развитие Азии и Африки в XXI веке сочетает модернизацию, экономический рост и сложные социальные вызовы</a:t>
            </a:r>
            <a:endParaRPr lang="en-US" sz="1500" dirty="0"/>
          </a:p>
        </p:txBody>
      </p:sp>
      <p:sp>
        <p:nvSpPr>
          <p:cNvPr id="7" name="takeaway-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um-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Ключевые задачи — политическая стабильность, социальная справедливость и экологическая безопасность</a:t>
            </a:r>
            <a:endParaRPr lang="en-US" sz="1500" dirty="0"/>
          </a:p>
        </p:txBody>
      </p:sp>
      <p:sp>
        <p:nvSpPr>
          <p:cNvPr id="11" name="takeaway-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-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Оба региона становятся всё более важными участниками мировой политики и экономики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ергамент">
  <a:themeElements>
    <a:clrScheme name="Пергамент">
      <a:dk1>
        <a:srgbClr val="2B1A10"/>
      </a:dk1>
      <a:lt1>
        <a:srgbClr val="FFFFFF"/>
      </a:lt1>
      <a:dk2>
        <a:srgbClr val="4A2C1A"/>
      </a:dk2>
      <a:lt2>
        <a:srgbClr val="F4EAD5"/>
      </a:lt2>
      <a:accent1>
        <a:srgbClr val="8C2F1F"/>
      </a:accent1>
      <a:accent2>
        <a:srgbClr val="C08F3A"/>
      </a:accent2>
      <a:accent3>
        <a:srgbClr val="4E6B47"/>
      </a:accent3>
      <a:accent4>
        <a:srgbClr val="2F4A5A"/>
      </a:accent4>
      <a:accent5>
        <a:srgbClr val="9A5B34"/>
      </a:accent5>
      <a:accent6>
        <a:srgbClr val="7B6852"/>
      </a:accent6>
      <a:hlink>
        <a:srgbClr val="8C2F1F"/>
      </a:hlink>
      <a:folHlink>
        <a:srgbClr val="7B6852"/>
      </a:folHlink>
    </a:clrScheme>
    <a:fontScheme name="Пергамент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15. Политические процессы в странах Азии и Африки в XXI веке. Основные вызовы современного развития</dc:title>
  <dc:subject>PptxGenJS Presentation</dc:subject>
  <dc:creator>Лекционный курс</dc:creator>
  <cp:lastModifiedBy>Лекционный курс</cp:lastModifiedBy>
  <cp:revision>1</cp:revision>
  <dcterms:created xsi:type="dcterms:W3CDTF">2026-10-19T14:28:21Z</dcterms:created>
  <dcterms:modified xsi:type="dcterms:W3CDTF">2026-10-19T14:28:21Z</dcterms:modified>
</cp:coreProperties>
</file>