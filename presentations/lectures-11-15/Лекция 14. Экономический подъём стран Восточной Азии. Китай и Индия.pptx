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a0080bfb-8cbe-81ae-e17c-8b63e28b3da5}">
          <p14:sldIdLst>
            <p14:sldId id="256"/>
            <p14:sldId id="257"/>
          </p14:sldIdLst>
        </p14:section>
        <p14:section name="Азиатское экономическое чудо" id="{2de79d98-e336-ff12-b004-df5f2d3d36aa}">
          <p14:sldIdLst>
            <p14:sldId id="258"/>
            <p14:sldId id="259"/>
          </p14:sldIdLst>
        </p14:section>
        <p14:section name="Китай и Индия" id="{d5f7b2dc-57db-ecaf-96cd-dd9cbe3e6769}">
          <p14:sldIdLst>
            <p14:sldId id="260"/>
            <p14:sldId id="261"/>
            <p14:sldId id="262"/>
            <p14:sldId id="263"/>
          </p14:sldIdLst>
        </p14:section>
        <p14:section name="Выводы" id="{80cff252-7777-b86a-3b59-449f2536b530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A2C1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4A2C1A"/>
                </a:solidFill>
                <a:latin typeface="+mn-lt"/>
              </a:rPr>
              <a:t>ВВП, трлн долл. США (в текущих ценах)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Китай</c:v>
                </c:pt>
              </c:strCache>
            </c:strRef>
          </c:tx>
          <c:spPr>
            <a:solidFill>
              <a:srgbClr val="8C2F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1A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1990</c:v>
                  </c:pt>
                  <c:pt idx="1">
                    <c:v>2000</c:v>
                  </c:pt>
                  <c:pt idx="2">
                    <c:v>2010</c:v>
                  </c:pt>
                  <c:pt idx="3">
                    <c:v>2020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</c:v>
                </c:pt>
                <c:pt idx="1">
                  <c:v>1.21</c:v>
                </c:pt>
                <c:pt idx="2">
                  <c:v>6.09</c:v>
                </c:pt>
                <c:pt idx="3">
                  <c:v>14.69</c:v>
                </c:pt>
                <c:pt idx="4">
                  <c:v>17.79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Индия</c:v>
                </c:pt>
              </c:strCache>
            </c:strRef>
          </c:tx>
          <c:spPr>
            <a:solidFill>
              <a:srgbClr val="C08F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1A1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1990</c:v>
                  </c:pt>
                  <c:pt idx="1">
                    <c:v>2000</c:v>
                  </c:pt>
                  <c:pt idx="2">
                    <c:v>2010</c:v>
                  </c:pt>
                  <c:pt idx="3">
                    <c:v>2020</c:v>
                  </c:pt>
                  <c:pt idx="4">
                    <c:v>2023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0.32</c:v>
                </c:pt>
                <c:pt idx="1">
                  <c:v>0.47</c:v>
                </c:pt>
                <c:pt idx="2">
                  <c:v>1.68</c:v>
                </c:pt>
                <c:pt idx="3">
                  <c:v>2.67</c:v>
                </c:pt>
                <c:pt idx="4">
                  <c:v>3.64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2B1A1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2C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C9A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685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2C1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второй половине XX века страны Восточной Азии продемонстрировали одни из самых высоких темпов экономического роста в мире. Если после Второй мировой войны многие государства региона оставались аграрными и экономически отсталыми, то к началу XXI века Восточная Азия превратилась в один из важнейших центров мировой экономики. Этот процесс получил название «азиатское экономическое чудо».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 второй половине XX века страны Восточной Азии продемонстрировали одни из самых высоких темпов экономического роста в мире. Если после Второй мировой войны многие государства региона оставались аграрными и экономически отсталыми, то к началу XXI века Восточная Азия превратилась в один из важнейших центров мировой экономики. Этот процесс получил название «азиатское экономическое чудо».
Среди первых стран, добившихся значительных успехов, были Южная Корея, Тайвань, Сингапур и Гонконг. Эти государства получили название «азиатские тигры». Их экономический рост основывался на активной государственной поддержке промышленности, привлечении иностранных инвестиций, развитии образования и использовании экспортно-ориентированной модели экономики. Особое внимание уделялось развитию высокотехнологичных отраслей промышленности, электроники, судостроения и машиностроения.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Среди первых стран, добившихся значительных успехов, были Южная Корея, Тайвань, Сингапур и Гонконг. Эти государства получили название «азиатские тигры». Их экономический рост основывался на активной государственной поддержке промышленности, привлечении иностранных инвестиций, развитии образования и использовании экспортно-ориентированной модели экономики. Особое внимание уделялось развитию высокотехнологичных отраслей промышленности, электроники, судостроения и машиностроения.
Южная Корея за несколько десятилетий превратилась из бедной аграрной страны в одну из ведущих индустриальных держав мира. Здесь были созданы крупные промышленные корпорации, известные во всём мире. Аналогичный путь прошли Сингапур и Тайвань, которые стали важными финансовыми и технологическими центрами Азии.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Наиболее значительным событием в экономической истории Восточной Азии стали реформы в Китае. После образования Китайской Народной Республики в 1949 году страна развивалась по социалистической модели. Однако к концу 1970-х годов стало очевидно, что многие элементы плановой экономики требуют модернизации. В 1978 году под руководством Дэн Сяопина началась политика реформ и открытости.
Основой реформ стало постепенное внедрение рыночных механизмов при сохранении ведущей роли государства. Были созданы специальные экономические зоны, открытые для иностранных инвестиций и современных технологий. Крестьяне получили больше экономической самостоятельности, а предприятия начали работать в условиях конкуренции. Реформы способствовали быстрому росту производства, увеличению экспорта и повышению уровня жизни населения.
В конце XX – начале XXI века Китай превратился в крупнейшую производственную площадку мира. Страна стала одним из лидеров по выпуску промышленной продукции, электроники, автомобилей и других товаров. Значительные инвестиции направлялись в развитие инфраструктуры, транспорта, науки и образования. Благодаря высоким темпам роста Китай занял одно из ведущих мест в мировой экономике и стал одним из крупнейших торговых партнёров большинства государств мира.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Важную роль в мировой экономике играет и Индия. После получения независимости в 1947 году страна развивалась по модели смешанной экономики, сочетающей элементы государственного регулирования и частного предпринимательства. Первые десятилетия после независимости были связаны с решением проблем бедности, неграмотности и экономической отсталости.
Серьёзные изменения начались в 1991 году, когда индийское руководство приступило к проведению экономических реформ. Были снижены ограничения для бизнеса, расширены возможности частного сектора и привлечения иностранных инвестиций. Либерализация экономики способствовала ускорению экономического роста и развитию новых отраслей.
Особенно быстро в Индии развивались информационные технологии, телекоммуникации, фармацевтика и сфера услуг. Крупные города, такие как Бангалор, стали важными мировыми центрами программирования и цифровых технологий. Благодаря большому количеству квалифицированных специалистов Индия заняла ведущие позиции на мировом рынке IT-услуг.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 началу XXI века Китай и Индия стали крупнейшими экономиками Азии и одними из важнейших участников мировой торговли. На их долю приходится значительная часть населения Земли, мирового производства и потребления. Китай является одним из крупнейших экспортёров товаров, а Индия занимает важное место в сфере услуг и информационных технологий.
Экономический рост Китая и Индии оказывает существенное влияние на мировые рынки сырья, капитала, технологий и труда. Эти страны активно участвуют в деятельности международных организаций, инвестируют в развитие инфраструктурных проектов за рубежом и укрепляют своё положение в мировой политике.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Вместе с тем обе страны сталкиваются с рядом серьёзных проблем. Для Китая актуальными остаются вопросы регионального неравенства, экологических последствий индустриализации и демографических изменений. Индия продолжает решать проблемы бедности, социального неравенства и обеспечения занятости быстро растущего населения.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Несмотря на существующие трудности, экономический подъём Восточной Азии стал одним из важнейших явлений мировой истории конца XX – начала XXI века. Опыт стран региона показывает, что сочетание эффективной государственной политики, инвестиций в человеческий капитал, развития технологий и интеграции в мировую экономику может обеспечить устойчивый экономический рост и повышение уровня жизни населения.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LOSING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Лекция 14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51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ЛЕКЦИЯ 14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46304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bg2"/>
                </a:solidFill>
              </a:rPr>
              <a:t>Экономический подъём стран Восточной Азии. Роль Китая и Индии в мировой экономике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bg2"/>
                </a:solidFill>
              </a:rPr>
              <a:t>«Азиатское экономическое чудо» и новые центры мировой экономики</a:t>
            </a:r>
            <a:endParaRPr lang="en-US" sz="1500" dirty="0"/>
          </a:p>
        </p:txBody>
      </p:sp>
      <p:sp>
        <p:nvSpPr>
          <p:cNvPr id="5" name="motif-ring"/>
          <p:cNvSpPr/>
          <p:nvPr/>
        </p:nvSpPr>
        <p:spPr>
          <a:xfrm>
            <a:off x="6446520" y="1325880"/>
            <a:ext cx="2194560" cy="2194560"/>
          </a:xfrm>
          <a:prstGeom prst="ellipse">
            <a:avLst/>
          </a:prstGeom>
          <a:ln w="19050">
            <a:solidFill>
              <a:schemeClr val="accent2"/>
            </a:solidFill>
            <a:prstDash val="solid"/>
          </a:ln>
        </p:spPr>
      </p:sp>
      <p:sp>
        <p:nvSpPr>
          <p:cNvPr id="6" name="icon-circle"/>
          <p:cNvSpPr/>
          <p:nvPr/>
        </p:nvSpPr>
        <p:spPr>
          <a:xfrm>
            <a:off x="6675120" y="15544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FaChartLi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7339" y="193669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План лекции</a:t>
            </a:r>
            <a:endParaRPr lang="en-US" sz="2400" dirty="0"/>
          </a:p>
        </p:txBody>
      </p:sp>
      <p:sp>
        <p:nvSpPr>
          <p:cNvPr id="3" name="num-1"/>
          <p:cNvSpPr/>
          <p:nvPr/>
        </p:nvSpPr>
        <p:spPr>
          <a:xfrm>
            <a:off x="457200" y="131673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16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60704" y="1188720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Предпосылки экономического подъёма стран Восточной Азии</a:t>
            </a:r>
            <a:endParaRPr lang="en-US" sz="1600" dirty="0"/>
          </a:p>
        </p:txBody>
      </p:sp>
      <p:sp>
        <p:nvSpPr>
          <p:cNvPr id="6" name="num-2"/>
          <p:cNvSpPr/>
          <p:nvPr/>
        </p:nvSpPr>
        <p:spPr>
          <a:xfrm>
            <a:off x="457200" y="199339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865376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Особенности развития «азиатских тигров»</a:t>
            </a:r>
            <a:endParaRPr lang="en-US" sz="1600" dirty="0"/>
          </a:p>
        </p:txBody>
      </p:sp>
      <p:sp>
        <p:nvSpPr>
          <p:cNvPr id="9" name="num-3"/>
          <p:cNvSpPr/>
          <p:nvPr/>
        </p:nvSpPr>
        <p:spPr>
          <a:xfrm>
            <a:off x="457200" y="267004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2542032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Экономические реформы в Китае</a:t>
            </a:r>
            <a:endParaRPr lang="en-US" sz="1600" dirty="0"/>
          </a:p>
        </p:txBody>
      </p:sp>
      <p:sp>
        <p:nvSpPr>
          <p:cNvPr id="12" name="num-4"/>
          <p:cNvSpPr/>
          <p:nvPr/>
        </p:nvSpPr>
        <p:spPr>
          <a:xfrm>
            <a:off x="457200" y="334670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60704" y="3218688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Экономическое развитие Индии после обретения независимости</a:t>
            </a:r>
            <a:endParaRPr lang="en-US" sz="1600" dirty="0"/>
          </a:p>
        </p:txBody>
      </p:sp>
      <p:sp>
        <p:nvSpPr>
          <p:cNvPr id="15" name="num-5"/>
          <p:cNvSpPr/>
          <p:nvPr/>
        </p:nvSpPr>
        <p:spPr>
          <a:xfrm>
            <a:off x="457200" y="402336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4023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60704" y="3895344"/>
            <a:ext cx="47000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Роль Китая и Индии в мировой экономике</a:t>
            </a:r>
            <a:endParaRPr lang="en-US" sz="1600" dirty="0"/>
          </a:p>
        </p:txBody>
      </p:sp>
      <p:sp>
        <p:nvSpPr>
          <p:cNvPr id="18" name="range-panel"/>
          <p:cNvSpPr/>
          <p:nvPr/>
        </p:nvSpPr>
        <p:spPr>
          <a:xfrm>
            <a:off x="6126480" y="1188720"/>
            <a:ext cx="2560320" cy="3291840"/>
          </a:xfrm>
          <a:prstGeom prst="roundRect">
            <a:avLst>
              <a:gd name="adj" fmla="val 3571"/>
            </a:avLst>
          </a:prstGeom>
          <a:solidFill>
            <a:schemeClr val="tx2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con-FaHourglassHal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18" y="1558138"/>
            <a:ext cx="358445" cy="3584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3093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Хронологические рамки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263640" y="25603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1950-е – 2020-е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355080" y="34290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от аграрных обществ к центрам мировой экономики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Слагаемые «азиатского чуда»</a:t>
            </a:r>
            <a:endParaRPr lang="en-US" sz="2400" dirty="0"/>
          </a:p>
        </p:txBody>
      </p:sp>
      <p:sp>
        <p:nvSpPr>
          <p:cNvPr id="3" name="card-1"/>
          <p:cNvSpPr/>
          <p:nvPr/>
        </p:nvSpPr>
        <p:spPr>
          <a:xfrm>
            <a:off x="45720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FaLandmar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4721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Поддержка государства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Активная государственная поддержка промышленности</a:t>
            </a:r>
            <a:endParaRPr lang="en-US" sz="1500" dirty="0"/>
          </a:p>
        </p:txBody>
      </p:sp>
      <p:sp>
        <p:nvSpPr>
          <p:cNvPr id="8" name="card-2"/>
          <p:cNvSpPr/>
          <p:nvPr/>
        </p:nvSpPr>
        <p:spPr>
          <a:xfrm>
            <a:off x="4709160" y="11887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489204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FaCoin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4721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716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Иностранные инвестиции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659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Привлечение капитала и современных технологий</a:t>
            </a:r>
            <a:endParaRPr lang="en-US" sz="1500" dirty="0"/>
          </a:p>
        </p:txBody>
      </p:sp>
      <p:sp>
        <p:nvSpPr>
          <p:cNvPr id="13" name="card-3"/>
          <p:cNvSpPr/>
          <p:nvPr/>
        </p:nvSpPr>
        <p:spPr>
          <a:xfrm>
            <a:off x="45720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FaGraduationC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3009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8016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Образование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Вложения в человеческий капитал и подготовку кадров</a:t>
            </a:r>
            <a:endParaRPr lang="en-US" sz="1500" dirty="0"/>
          </a:p>
        </p:txBody>
      </p:sp>
      <p:sp>
        <p:nvSpPr>
          <p:cNvPr id="18" name="card-4"/>
          <p:cNvSpPr/>
          <p:nvPr/>
        </p:nvSpPr>
        <p:spPr>
          <a:xfrm>
            <a:off x="4709160" y="3017520"/>
            <a:ext cx="3977640" cy="1554480"/>
          </a:xfrm>
          <a:prstGeom prst="roundRect">
            <a:avLst>
              <a:gd name="adj" fmla="val 4706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9" name="icon-circle"/>
          <p:cNvSpPr/>
          <p:nvPr/>
        </p:nvSpPr>
        <p:spPr>
          <a:xfrm>
            <a:off x="489204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FaShi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3009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3200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Экспортная модель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92040" y="37947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Ориентация экономики на внешние рынки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«Азиатские тигры»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Первые страны региона, совершившие экономический рывок во второй половине XX века</a:t>
            </a:r>
            <a:endParaRPr lang="en-US" sz="1400" dirty="0"/>
          </a:p>
        </p:txBody>
      </p:sp>
      <p:sp>
        <p:nvSpPr>
          <p:cNvPr id="4" name="card-1"/>
          <p:cNvSpPr/>
          <p:nvPr/>
        </p:nvSpPr>
        <p:spPr>
          <a:xfrm>
            <a:off x="45720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-FaIndust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Южная Корея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От бедной аграрной страны — к ведущей индустриальной державе с мировыми корпорациями</a:t>
            </a:r>
            <a:endParaRPr lang="en-US" sz="1300" dirty="0"/>
          </a:p>
        </p:txBody>
      </p:sp>
      <p:sp>
        <p:nvSpPr>
          <p:cNvPr id="9" name="card-2"/>
          <p:cNvSpPr/>
          <p:nvPr/>
        </p:nvSpPr>
        <p:spPr>
          <a:xfrm>
            <a:off x="258318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27660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FaMicro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644" y="1792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6606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Тайвань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76606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Важный технологический центр Азии, производство электроники</a:t>
            </a:r>
            <a:endParaRPr lang="en-US" sz="1300" dirty="0"/>
          </a:p>
        </p:txBody>
      </p:sp>
      <p:sp>
        <p:nvSpPr>
          <p:cNvPr id="14" name="card-3"/>
          <p:cNvSpPr/>
          <p:nvPr/>
        </p:nvSpPr>
        <p:spPr>
          <a:xfrm>
            <a:off x="470916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48920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-FaUniversit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1792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Сингапур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Один из главных финансовых и технологических центров региона</a:t>
            </a:r>
            <a:endParaRPr lang="en-US" sz="1300" dirty="0"/>
          </a:p>
        </p:txBody>
      </p:sp>
      <p:sp>
        <p:nvSpPr>
          <p:cNvPr id="19" name="card-4"/>
          <p:cNvSpPr/>
          <p:nvPr/>
        </p:nvSpPr>
        <p:spPr>
          <a:xfrm>
            <a:off x="6835140" y="1508760"/>
            <a:ext cx="1851660" cy="3063240"/>
          </a:xfrm>
          <a:prstGeom prst="roundRect">
            <a:avLst>
              <a:gd name="adj" fmla="val 3951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70180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-FaShi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604" y="17922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18020" y="2286000"/>
            <a:ext cx="14859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Гонконг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18020" y="3063240"/>
            <a:ext cx="14859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Крупный торговый и финансовый центр с экспортной экономикой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Китай: политика реформ и открытости</a:t>
            </a:r>
            <a:endParaRPr lang="en-US" sz="2400" dirty="0"/>
          </a:p>
        </p:txBody>
      </p:sp>
      <p:sp>
        <p:nvSpPr>
          <p:cNvPr id="3" name="timeline-axis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1949</a:t>
            </a:r>
            <a:endParaRPr lang="en-US" sz="2000" dirty="0"/>
          </a:p>
        </p:txBody>
      </p:sp>
      <p:sp>
        <p:nvSpPr>
          <p:cNvPr id="5" name="tl-dot-1"/>
          <p:cNvSpPr/>
          <p:nvPr/>
        </p:nvSpPr>
        <p:spPr>
          <a:xfrm>
            <a:off x="13670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6" name="tl-card-1"/>
          <p:cNvSpPr/>
          <p:nvPr/>
        </p:nvSpPr>
        <p:spPr>
          <a:xfrm>
            <a:off x="5120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669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Плановая экономика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Развитие по социалистической модели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1978</a:t>
            </a:r>
            <a:endParaRPr lang="en-US" sz="2000" dirty="0"/>
          </a:p>
        </p:txBody>
      </p:sp>
      <p:sp>
        <p:nvSpPr>
          <p:cNvPr id="10" name="tl-dot-2"/>
          <p:cNvSpPr/>
          <p:nvPr/>
        </p:nvSpPr>
        <p:spPr>
          <a:xfrm>
            <a:off x="34244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1" name="tl-card-2"/>
          <p:cNvSpPr/>
          <p:nvPr/>
        </p:nvSpPr>
        <p:spPr>
          <a:xfrm>
            <a:off x="25694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243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Курс Дэн Сяопина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243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Рыночные механизмы при ведущей роли государства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1980-е</a:t>
            </a:r>
            <a:endParaRPr lang="en-US" sz="2000" dirty="0"/>
          </a:p>
        </p:txBody>
      </p:sp>
      <p:sp>
        <p:nvSpPr>
          <p:cNvPr id="15" name="tl-dot-3"/>
          <p:cNvSpPr/>
          <p:nvPr/>
        </p:nvSpPr>
        <p:spPr>
          <a:xfrm>
            <a:off x="54818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16" name="tl-card-3"/>
          <p:cNvSpPr/>
          <p:nvPr/>
        </p:nvSpPr>
        <p:spPr>
          <a:xfrm>
            <a:off x="46268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817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Открытие страны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6817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Специальные экономические зоны, самостоятельность крестьян и предприятий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12344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XXI век</a:t>
            </a:r>
            <a:endParaRPr lang="en-US" sz="2000" dirty="0"/>
          </a:p>
        </p:txBody>
      </p:sp>
      <p:sp>
        <p:nvSpPr>
          <p:cNvPr id="20" name="tl-dot-4"/>
          <p:cNvSpPr/>
          <p:nvPr/>
        </p:nvSpPr>
        <p:spPr>
          <a:xfrm>
            <a:off x="7539228" y="1984248"/>
            <a:ext cx="237744" cy="237744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2"/>
            </a:solidFill>
            <a:prstDash val="solid"/>
          </a:ln>
        </p:spPr>
      </p:sp>
      <p:sp>
        <p:nvSpPr>
          <p:cNvPr id="21" name="tl-card-4"/>
          <p:cNvSpPr/>
          <p:nvPr/>
        </p:nvSpPr>
        <p:spPr>
          <a:xfrm>
            <a:off x="6684264" y="2377440"/>
            <a:ext cx="1947672" cy="1920240"/>
          </a:xfrm>
          <a:prstGeom prst="roundRect">
            <a:avLst>
              <a:gd name="adj" fmla="val 381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739128" y="2468880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«Мировая фабрика»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39128" y="3108960"/>
            <a:ext cx="1837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Лидер по выпуску промышленной продукции, электроники, автомобилей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Индия: путь к либерализации</a:t>
            </a:r>
            <a:endParaRPr lang="en-US" sz="2400" dirty="0"/>
          </a:p>
        </p:txBody>
      </p:sp>
      <p:sp>
        <p:nvSpPr>
          <p:cNvPr id="3" name="step-1"/>
          <p:cNvSpPr/>
          <p:nvPr/>
        </p:nvSpPr>
        <p:spPr>
          <a:xfrm>
            <a:off x="457200" y="132588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30352" y="13258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1947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Независимость</a:t>
            </a:r>
            <a:endParaRPr lang="en-US" sz="1200" dirty="0"/>
          </a:p>
        </p:txBody>
      </p:sp>
      <p:sp>
        <p:nvSpPr>
          <p:cNvPr id="5" name="arrow-1"/>
          <p:cNvSpPr/>
          <p:nvPr/>
        </p:nvSpPr>
        <p:spPr>
          <a:xfrm>
            <a:off x="2322576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6" name="step-desc-1"/>
          <p:cNvSpPr/>
          <p:nvPr/>
        </p:nvSpPr>
        <p:spPr>
          <a:xfrm>
            <a:off x="457200" y="269748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Смешанная экономика: государство + частный бизнес</a:t>
            </a:r>
            <a:endParaRPr lang="en-US" sz="1400" dirty="0"/>
          </a:p>
        </p:txBody>
      </p:sp>
      <p:sp>
        <p:nvSpPr>
          <p:cNvPr id="8" name="step-2"/>
          <p:cNvSpPr/>
          <p:nvPr/>
        </p:nvSpPr>
        <p:spPr>
          <a:xfrm>
            <a:off x="2596896" y="132588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70048" y="13258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1950–1980-е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Первые десятилетия</a:t>
            </a:r>
            <a:endParaRPr lang="en-US" sz="1200" dirty="0"/>
          </a:p>
        </p:txBody>
      </p:sp>
      <p:sp>
        <p:nvSpPr>
          <p:cNvPr id="10" name="arrow-2"/>
          <p:cNvSpPr/>
          <p:nvPr/>
        </p:nvSpPr>
        <p:spPr>
          <a:xfrm>
            <a:off x="4462272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step-desc-2"/>
          <p:cNvSpPr/>
          <p:nvPr/>
        </p:nvSpPr>
        <p:spPr>
          <a:xfrm>
            <a:off x="2596896" y="269748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688336" y="27889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Борьба с бедностью, неграмотностью, отсталостью</a:t>
            </a:r>
            <a:endParaRPr lang="en-US" sz="1400" dirty="0"/>
          </a:p>
        </p:txBody>
      </p:sp>
      <p:sp>
        <p:nvSpPr>
          <p:cNvPr id="13" name="step-3"/>
          <p:cNvSpPr/>
          <p:nvPr/>
        </p:nvSpPr>
        <p:spPr>
          <a:xfrm>
            <a:off x="4736592" y="132588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9744" y="13258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1991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Реформы</a:t>
            </a:r>
            <a:endParaRPr lang="en-US" sz="1200" dirty="0"/>
          </a:p>
        </p:txBody>
      </p:sp>
      <p:sp>
        <p:nvSpPr>
          <p:cNvPr id="15" name="arrow-3"/>
          <p:cNvSpPr/>
          <p:nvPr/>
        </p:nvSpPr>
        <p:spPr>
          <a:xfrm>
            <a:off x="6601968" y="1760220"/>
            <a:ext cx="219456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6" name="step-desc-3"/>
          <p:cNvSpPr/>
          <p:nvPr/>
        </p:nvSpPr>
        <p:spPr>
          <a:xfrm>
            <a:off x="4736592" y="269748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28032" y="27889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Меньше ограничений, рост частного сектора и инвестиций</a:t>
            </a:r>
            <a:endParaRPr lang="en-US" sz="1400" dirty="0"/>
          </a:p>
        </p:txBody>
      </p:sp>
      <p:sp>
        <p:nvSpPr>
          <p:cNvPr id="18" name="step-4"/>
          <p:cNvSpPr/>
          <p:nvPr/>
        </p:nvSpPr>
        <p:spPr>
          <a:xfrm>
            <a:off x="6876288" y="1325880"/>
            <a:ext cx="1810512" cy="11430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49440" y="1325880"/>
            <a:ext cx="16642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XXI век</a:t>
            </a:r>
            <a:endParaRPr lang="en-US" sz="12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Цифровой рывок</a:t>
            </a:r>
            <a:endParaRPr lang="en-US" sz="1200" dirty="0"/>
          </a:p>
        </p:txBody>
      </p:sp>
      <p:sp>
        <p:nvSpPr>
          <p:cNvPr id="20" name="step-desc-4"/>
          <p:cNvSpPr/>
          <p:nvPr/>
        </p:nvSpPr>
        <p:spPr>
          <a:xfrm>
            <a:off x="6876288" y="2697480"/>
            <a:ext cx="1810512" cy="1188720"/>
          </a:xfrm>
          <a:prstGeom prst="roundRect">
            <a:avLst>
              <a:gd name="adj" fmla="val 6154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67728" y="2788920"/>
            <a:ext cx="1627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IT, телекоммуникации, фармацевтика; Бангалор — мировой IT-центр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Китай и Индия в мировой экономике</a:t>
            </a:r>
            <a:endParaRPr lang="en-US" sz="2400" dirty="0"/>
          </a:p>
        </p:txBody>
      </p:sp>
      <p:sp>
        <p:nvSpPr>
          <p:cNvPr id="3" name="chart-card"/>
          <p:cNvSpPr/>
          <p:nvPr/>
        </p:nvSpPr>
        <p:spPr>
          <a:xfrm>
            <a:off x="457200" y="1188720"/>
            <a:ext cx="5303520" cy="3383280"/>
          </a:xfrm>
          <a:prstGeom prst="roundRect">
            <a:avLst>
              <a:gd name="adj" fmla="val 2162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1206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2976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Источник: Всемирный банк, округлённые данные</a:t>
            </a:r>
            <a:endParaRPr lang="en-US" sz="1000" dirty="0"/>
          </a:p>
        </p:txBody>
      </p:sp>
      <p:sp>
        <p:nvSpPr>
          <p:cNvPr id="6" name="role-1"/>
          <p:cNvSpPr/>
          <p:nvPr/>
        </p:nvSpPr>
        <p:spPr>
          <a:xfrm>
            <a:off x="603504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172200" y="1188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Китай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Один из крупнейших экспортёров товаров и торговый партнёр большинства стран мира</a:t>
            </a:r>
            <a:endParaRPr lang="en-US" sz="1400" dirty="0"/>
          </a:p>
        </p:txBody>
      </p:sp>
      <p:sp>
        <p:nvSpPr>
          <p:cNvPr id="8" name="role-2"/>
          <p:cNvSpPr/>
          <p:nvPr/>
        </p:nvSpPr>
        <p:spPr>
          <a:xfrm>
            <a:off x="6035040" y="2350008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172200" y="23500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Индия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Ведущие позиции в сфере услуг и информационных технологий</a:t>
            </a:r>
            <a:endParaRPr lang="en-US" sz="1400" dirty="0"/>
          </a:p>
        </p:txBody>
      </p:sp>
      <p:sp>
        <p:nvSpPr>
          <p:cNvPr id="10" name="role-3"/>
          <p:cNvSpPr/>
          <p:nvPr/>
        </p:nvSpPr>
        <p:spPr>
          <a:xfrm>
            <a:off x="6035040" y="3511296"/>
            <a:ext cx="26517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72200" y="3511296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Вместе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Значительная доля населения Земли, мирового производства и потребления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Проблемы и вызовы роста</a:t>
            </a:r>
            <a:endParaRPr lang="en-US" sz="2400" dirty="0"/>
          </a:p>
        </p:txBody>
      </p:sp>
      <p:sp>
        <p:nvSpPr>
          <p:cNvPr id="3" name="col-head-1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Китай</a:t>
            </a:r>
            <a:endParaRPr lang="en-US" sz="1600" dirty="0"/>
          </a:p>
        </p:txBody>
      </p:sp>
      <p:sp>
        <p:nvSpPr>
          <p:cNvPr id="5" name="col-body-1"/>
          <p:cNvSpPr/>
          <p:nvPr/>
        </p:nvSpPr>
        <p:spPr>
          <a:xfrm>
            <a:off x="45720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Региональное неравенство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Экологические последствия индустриализации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Демографические изменения</a:t>
            </a:r>
            <a:endParaRPr lang="en-US" sz="1500" dirty="0"/>
          </a:p>
        </p:txBody>
      </p:sp>
      <p:sp>
        <p:nvSpPr>
          <p:cNvPr id="7" name="col-head-2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Индия</a:t>
            </a:r>
            <a:endParaRPr lang="en-US" sz="1600" dirty="0"/>
          </a:p>
        </p:txBody>
      </p:sp>
      <p:sp>
        <p:nvSpPr>
          <p:cNvPr id="9" name="col-body-2"/>
          <p:cNvSpPr/>
          <p:nvPr/>
        </p:nvSpPr>
        <p:spPr>
          <a:xfrm>
            <a:off x="4709160" y="1828800"/>
            <a:ext cx="3977640" cy="2743200"/>
          </a:xfrm>
          <a:prstGeom prst="roundRect">
            <a:avLst>
              <a:gd name="adj" fmla="val 2667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accent6"/>
            </a:solidFill>
            <a:prstDash val="solid"/>
          </a:ln>
          <a:effectLst>
            <a:outerShdw sx="100000" sy="100000" kx="0" ky="0" algn="bl" rotWithShape="0" blurRad="50800" dist="19050" dir="5400000">
              <a:srgbClr val="5A3D24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92040" y="1965960"/>
            <a:ext cx="3611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Бедность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Социальное неравенство</a:t>
            </a:r>
            <a:endParaRPr lang="en-US" sz="15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Обеспечение занятости быстро растущего населения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2"/>
                </a:solidFill>
              </a:rPr>
              <a:t>Выводы</a:t>
            </a:r>
            <a:endParaRPr lang="en-US" sz="2800" dirty="0"/>
          </a:p>
        </p:txBody>
      </p:sp>
      <p:sp>
        <p:nvSpPr>
          <p:cNvPr id="3" name="takeaway-1"/>
          <p:cNvSpPr/>
          <p:nvPr/>
        </p:nvSpPr>
        <p:spPr>
          <a:xfrm>
            <a:off x="45720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num-1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«Азиатские тигры» доказали эффективность экспортной модели и инвестиций в образование</a:t>
            </a:r>
            <a:endParaRPr lang="en-US" sz="1500" dirty="0"/>
          </a:p>
        </p:txBody>
      </p:sp>
      <p:sp>
        <p:nvSpPr>
          <p:cNvPr id="7" name="takeaway-2"/>
          <p:cNvSpPr/>
          <p:nvPr/>
        </p:nvSpPr>
        <p:spPr>
          <a:xfrm>
            <a:off x="329184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num-2"/>
          <p:cNvSpPr/>
          <p:nvPr/>
        </p:nvSpPr>
        <p:spPr>
          <a:xfrm>
            <a:off x="352044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204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Реформы в Китае (1978) и Индии (1991) превратили обе страны в крупнейшие экономики Азии</a:t>
            </a:r>
            <a:endParaRPr lang="en-US" sz="1500" dirty="0"/>
          </a:p>
        </p:txBody>
      </p:sp>
      <p:sp>
        <p:nvSpPr>
          <p:cNvPr id="11" name="takeaway-3"/>
          <p:cNvSpPr/>
          <p:nvPr/>
        </p:nvSpPr>
        <p:spPr>
          <a:xfrm>
            <a:off x="6126480" y="1325880"/>
            <a:ext cx="2560320" cy="3108960"/>
          </a:xfrm>
          <a:prstGeom prst="roundRect">
            <a:avLst>
              <a:gd name="adj" fmla="val 3571"/>
            </a:avLst>
          </a:prstGeom>
          <a:solidFill>
            <a:schemeClr val="tx1">
              <a:alpha val="6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-3"/>
          <p:cNvSpPr/>
          <p:nvPr/>
        </p:nvSpPr>
        <p:spPr>
          <a:xfrm>
            <a:off x="6355080" y="15544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8600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Государственная политика, человеческий капитал, технологии и интеграция в мировую экономику обеспечивают устойчивый рост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ергамент">
  <a:themeElements>
    <a:clrScheme name="Пергамент">
      <a:dk1>
        <a:srgbClr val="2B1A10"/>
      </a:dk1>
      <a:lt1>
        <a:srgbClr val="FFFFFF"/>
      </a:lt1>
      <a:dk2>
        <a:srgbClr val="4A2C1A"/>
      </a:dk2>
      <a:lt2>
        <a:srgbClr val="F4EAD5"/>
      </a:lt2>
      <a:accent1>
        <a:srgbClr val="8C2F1F"/>
      </a:accent1>
      <a:accent2>
        <a:srgbClr val="C08F3A"/>
      </a:accent2>
      <a:accent3>
        <a:srgbClr val="4E6B47"/>
      </a:accent3>
      <a:accent4>
        <a:srgbClr val="2F4A5A"/>
      </a:accent4>
      <a:accent5>
        <a:srgbClr val="9A5B34"/>
      </a:accent5>
      <a:accent6>
        <a:srgbClr val="7B6852"/>
      </a:accent6>
      <a:hlink>
        <a:srgbClr val="8C2F1F"/>
      </a:hlink>
      <a:folHlink>
        <a:srgbClr val="7B6852"/>
      </a:folHlink>
    </a:clrScheme>
    <a:fontScheme name="Пергамент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14. Экономический подъём стран Восточной Азии. Роль Китая и Индии в мировой экономике</dc:title>
  <dc:subject>PptxGenJS Presentation</dc:subject>
  <dc:creator>Лекционный курс</dc:creator>
  <cp:lastModifiedBy>Лекционный курс</cp:lastModifiedBy>
  <cp:revision>1</cp:revision>
  <dcterms:created xsi:type="dcterms:W3CDTF">2026-10-19T14:28:21Z</dcterms:created>
  <dcterms:modified xsi:type="dcterms:W3CDTF">2026-10-19T14:28:21Z</dcterms:modified>
</cp:coreProperties>
</file>